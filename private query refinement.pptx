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1" r:id="rId17"/>
    <p:sldId id="272" r:id="rId18"/>
    <p:sldId id="274" r:id="rId19"/>
    <p:sldId id="276" r:id="rId20"/>
    <p:sldId id="275" r:id="rId21"/>
    <p:sldId id="278" r:id="rId22"/>
    <p:sldId id="279" r:id="rId23"/>
    <p:sldId id="280" r:id="rId24"/>
    <p:sldId id="281" r:id="rId25"/>
    <p:sldId id="282" r:id="rId26"/>
    <p:sldId id="284" r:id="rId27"/>
    <p:sldId id="290" r:id="rId28"/>
    <p:sldId id="289" r:id="rId29"/>
    <p:sldId id="287" r:id="rId30"/>
    <p:sldId id="291" r:id="rId31"/>
    <p:sldId id="292" r:id="rId32"/>
    <p:sldId id="293" r:id="rId33"/>
    <p:sldId id="294" r:id="rId34"/>
    <p:sldId id="295" r:id="rId35"/>
    <p:sldId id="298" r:id="rId36"/>
    <p:sldId id="299" r:id="rId37"/>
    <p:sldId id="296" r:id="rId38"/>
    <p:sldId id="297" r:id="rId39"/>
    <p:sldId id="300" r:id="rId40"/>
    <p:sldId id="301" r:id="rId41"/>
    <p:sldId id="305" r:id="rId42"/>
    <p:sldId id="302" r:id="rId43"/>
    <p:sldId id="303" r:id="rId4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29"/>
    <p:restoredTop sz="92681"/>
  </p:normalViewPr>
  <p:slideViewPr>
    <p:cSldViewPr snapToGrid="0">
      <p:cViewPr>
        <p:scale>
          <a:sx n="110" d="100"/>
          <a:sy n="110" d="100"/>
        </p:scale>
        <p:origin x="408" y="184"/>
      </p:cViewPr>
      <p:guideLst/>
    </p:cSldViewPr>
  </p:slideViewPr>
  <p:outlineViewPr>
    <p:cViewPr>
      <p:scale>
        <a:sx n="33" d="100"/>
        <a:sy n="33" d="100"/>
      </p:scale>
      <p:origin x="0" y="-49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1:29:51.555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22067 9907 8191,'-3'-29'0,"0"-23"2484,3 2 0,0-3-2484,0 2 0,0-2 0,5 10 0,1-2 0,-1 2 0,0-7 0,2 1 0,6 0 0,0 1 0,-4 10 0,-1 1 0,1-15 0,8-4 0,-7 10 0,3-4 0,1-1 0,-2 13 2830,-3-4-2830,2 7 1731,0-6-1731,0 6 6749,3-3-6749,-1 9 106,-3 8-106,-1 4 0,-3 10 0,-1 2 0,1 7 0,0 10 0,-4 8 0,4 14 0,-5-4 0,2 0 0,-3-4 0,4 0 0,-3 1 0,5-2 0,-1 1 0,2-4 0,0 4 0,6 4 0,-1 7 0,3 20 0,-8 6 0,-4-27 0,-2 0 0,-1-1 0,0-2 0,0 25 0,3-7 0,3-8 0,6-1 0,2 1 0,0-14 0,-4 1 0,2-16 0,-1 6 0,3-6 0,-5 3 0,4-5 0,-6 1 0,3 0 0,-4-3 0,0-2 0,0 1 0,-1 0 0,1 0 0,3 0 0,0 0 0,13-6 0,-13 2 0,8-5 0</inkml:trace>
  <inkml:trace contextRef="#ctx0" brushRef="#br0" timeOffset="1350">22189 9507 24575,'19'0'0,"-1"0"0,1 0 0,-6 0 0,0 0 0,-7 0 0,3 0 0,-3 0 0,0 0 0,3 0 0,-3 0 0,5 0 0,-1 0 0,1 0 0,1 0 0,-5 2 0,2 4 0,-2 3 0,11 6 0,-7-5 0,6 2 0,-10-6 0,2-3 0,-3 0 0,0-3 0,0 0 0,0 0 0,-2 0 0,2 0 0,0-3 0,-1 0 0,-1-3 0,-2 0 0,-2 1 0,0 2 0,0 1 0</inkml:trace>
  <inkml:trace contextRef="#ctx0" brushRef="#br0" timeOffset="2950">22878 9887 24575,'0'-6'0,"0"1"0,0-3 0,0 1 0,0-4 0,0 6 0,0-3 0,3-1 0,0 0 0,0 0 0,2-2 0,-1 5 0,1-5 0,-1 1 0,1 1 0,-5 0 0,2 4 0,-2-1 0,3 0 0,-2 0 0,4 0 0,-2 0 0,3 3 0,-1-2 0,1 1 0,0-2 0,2 4 0,-4 4 0,1 22 0,-5 24 0,0-17 0,0 3 0,0 1 0,0-1 0,0 22 0,1-23 0,1 0 0,-1 13 0,3 15 0,-4-25 0,0 0 0,0-5 0,0-5 0,0 0 0,0-5 0,0 0 0,0 0 0,0-3 0,6 11 0,3 5 0,5 9 0,-1-4 0,-5-15 0,-2-11 0,-6-11 0</inkml:trace>
  <inkml:trace contextRef="#ctx0" brushRef="#br0" timeOffset="6481">22505 8062 24575,'-40'34'0,"-2"0"0,4 0 0,1 1 0,8-4 0,2 4 0,0-1 0,-14 12 0,2-1 0,5-2 0,1 0 0,-6 5 0,2-1 0,11-11 0,3-2 0,3 1 0,4 1 0,2 11 0,14 14 0,0-27 0,0 3 0,6 18 0,2 4 0,0 2 0,0 3-143,0-21 0,2 1 0,1-1 143,1 1 0,-1-2 0,2-1 0,7 12 0,0-3 0,-1-11 0,0-2 0,-1-2 0,0-4 0,7 10 0,1 6 0,-5-4 0,1 4 0,-9-5 0,-2 0 0,-2 0 0,2 8 0,2 3 0,-4-21 0,0 2 0,2 0 0,-1 0 214,1 1 1,-1 1-215,-1 2 0,1-3 0,-2-3 0,0 0 0,8 28 0,1-12 0,1-1 0,5-8 0,2-2 0,5-9 0,-8-8 0,4-7 0,-9-9 0,5-1 0,3-3 0,-2 0 0,2 0 0,0 0 0,-3 0 0,17-7 0,-1-8 0,14-5 0,-21 8 0,-1-2 0,2 4 0,0 0 0,6 3 0,1-1 0,-1 2 0,-1 1 0,4 0 0,0 1 0,-5 0 0,2 0 0,6-2 0,-1 0 0,-9 0 0,-1-1 0,3-2 0,0-1 0,6-2 0,-1-2 0,-9 2 0,-2 0-226,9-2 1,0 1 225,13-9 0,-8 2 0,3-2 0,-6-3 0,1 3 0,-5-2 0,-1 7 0,12-14 0,1 2 0,-17 7 0,1-1 0,0 0 0,-1 0 225,0-3 1,0-1-226,-1 0 0,-1-1 0,-4 0 0,-2-1 0,3-1 0,-2-2 0,0-5 0,-4 0 0,-2 5 0,-1 0 0,-4 3 0,-1-1 0,4-20 0,-5 17 0,6-14 0,-5 5 0,-1 0 0,-4 1 0,-4 3 0,0-2 0,-4 8 0,0-3 0,0 3 0,0 2 0,0 3 0,0-3 0,0 7 0,0-7 0,-6-2 0,1-7 0,-11-4 0,0-8 0,-9 2 0,-2-7 0,-1 11 0,8 9 0,2 13 0,4-3 0,-3 5 0,0-3 0,4 8 0,1 4 0,2 5 0,-4-5 0,2 2 0,-5-1 0,-6-7 0,-6-4 0,-9-7 0,-2-6 0,4 6 0,-2-6 0,7 7 0,-5-10 0,0 5 0,0-7 0,0 4 0,4 5 0,-1 3 0,12 8 0,-6 3 0,13 5 0,-6-3 0,3 1 0,-9 0 0,3-4 0,-2 5 0,2-4 0,1 6 0,2-1 0,-11-5 0,-2 6 0,-10-10 0,-8 5 0,2-4 0,-3 4 0,9 1 0,9 6 0,0 5 0,8 1 0,1 3 0,3 0 0,-1 0 0,1 0 0,-6 0 0,7 0 0,0 0 0,0 0 0,-10 0 0,11 0 0,-10 0 0,11 0 0,-9 0 0,-2 0 0,-13 0 0,-5 0 0,-5 3 0,1-2 0,9 5 0,14-2 0,7 0 0,3 1 0,-1 2 0,3-3 0,-2 5 0,10-5 0,-3 2 0,2-3 0,1 2 0,3-2 0,0 1 0,-3 4 0,4-7 0,-4 7 0,3-5 0,0 5 0,0-1 0,0 0 0,0-1 0,3 0 0,-1 0 0,0-3 0,1 2 0,-2-5 0,-1 5 0,0-4 0,-3 2 0,4-1 0,-1-1 0,3 6 0,1-1 0,5 25 0,37 7 0,-27-7 0,26-4 0</inkml:trace>
  <inkml:trace contextRef="#ctx0" brushRef="#br0" timeOffset="8450">26272 9010 8191,'-3'-11'0,"1"-9"5063,2-11-5063,0-12 2818,0-9-2818,0-6 859,-1 26 1,2-3-860,-1 2 0,3-1 3392,4-3 0,1 1-3392,1 0 0,1 0 0,4-3 0,3 0 0,-4 2 0,-1 1 0,2 0 0,0 3 0,2-19 0,-3 20 0,-6 11 0,0 8 0,-1 4 0,-2 0 0,1 5 0,-2 2 0,3 2 0,-1 0 0,0 0 0,-2 2 0,0 7 0,-3 14 0,0 9 0,0 19 0,0 1 0,0-18 0,0-1 0,0 30 0,3-30 0,1 0 0,1 15 0,6-7 0,-4-16 0,0-4 0,-3 0 0,2 0 0,-5 0 0,2 1 0,0-1 0,-2 9 0,5-1 0,-5 6 0,2-12 0,0-5 0,0-12 0,3 0 0,2-6 0,-2 0 0,0 0 0,-4 0 0</inkml:trace>
  <inkml:trace contextRef="#ctx0" brushRef="#br0" timeOffset="9881">26390 8837 24575,'18'0'0,"-2"0"0,-7 0 0,-8 0 0,-11 0 0,-9 0 0,-11 0 0,4 0 0,2 0 0,6 0 0,6 0 0,-1 0 0,4 0 0,3-5 0,4 1 0,2-5 0,0 4 0,8 0 0,10 2 0,5-2 0,7 4 0,-1-5 0,2 2 0,-1-3 0,-1 0 0,-3 4 0,-4-3 0,-3 5 0,-6-1 0,-5 2 0,-2 0 0,-4 0 0,1 0 0</inkml:trace>
  <inkml:trace contextRef="#ctx0" brushRef="#br0" timeOffset="11697">26903 8924 8196,'7'0'0,"5"0"5063,17 0-5063,-8 0 2817,2 0-2817,-11 0 1718,5 0-1718,0 4 6781,7 16-6781,10 8 0,-5 10 0,4 6 0,-9-9 0,-4 3 0,-2-8 0,1 0 0,-6-8 0,0 0 0,-7-3 0,-3 6 0,-6 2 0,-1-2 0,-10 1 0,3-8 0,-8 5 0,1-6 0,1 1 0,-1-4 0,-3-4 0,4 3 0,-14-2 0,-6 4 0,-11 2 0,-4-1 0,8-1 0,2-8 0,14-5 0,-1-4 0,12-7 0,-1-5 0,11-3 0,2 6 0,5-1 0,0 5 0,0-5 0,0 2 0,9 1 0,4-9 0,8 6 0,6-6 0,-5-1 0,9 3 0,-4-3 0,3 4 0,2 2 0,-2 2 0,14 0 0,0-1 0,8-6 0,-6 3 0,-10-2 0,-3 3 0,-11 7 0,3 1 0,-5 6 0,-4 0 0,-1 0 0,-9 0 0,7 0 0,-4 0 0,1 0 0,2 0 0,-2 0 0,2 0 0,1 0 0,0 0 0,6 0 0,1 0 0,6 0 0,-1-2 0,-2-4 0,-1-2 0,0-1 0,39 5 0,-38 1 0,26 3 0</inkml:trace>
  <inkml:trace contextRef="#ctx0" brushRef="#br0" timeOffset="14949">26390 7815 8191,'-24'-5'0,"2"2"5063,3 3-5063,-4 0 2818,-10 3-2818,-1 10 1719,6 7-1719,-5 6 6784,4 6-6784,-4-6 0,-5 3 0,14-6 0,-3 3 0,-5 1 0,-2 3 0,-3 8 0,1 2 0,0-3 0,1 2 0,1 3 0,4 1 0,4-6 0,4 0 0,-1 3 0,3 0 0,4-2 0,3 1 0,4-1 0,3 4 0,-2 10 0,3 3 0,0 3 0,0 1 0,0 3 0,0-1-697,2-9 0,1-3 697,-1-4 0,1-4 0,2 21-466,0-3 466,0-6 0,0 1 0,0 0 0,0 0 0,0 0 0,3-22 0,2 2 0,0-1 0,3-1 0,2 2 0,3-3 0,2-2 0,3-1 1360,19 8-1360,4 4 500,1-10-500,-6 0 0,5-8 0,-2-2 0,7-6 0,2-2 0,-10-3 0,2-1 0,-14-1 0,1 4 0,2-2 0,-3 4 0,1-1 0,-2 3 0,1-1 0,14 8 0,9 6 0,-19-13 0,2 2 0,-3-1 0,1-1 0,0-1 0,0-2 0,27 11 0,-23-13 0,-1 0 0,-2-2 0,1 0 0,1-3 0,0 0 0,28 0 0,1-2 0,-29-3 0,0 0 0,21 0 0,7-8-417,-13-1 417,6-10 0,0 1 0,0 1 0,5-7 0,-11 8 0,2-1 0,0 0 0,1-1 0,-8 4 0,3-1 0,-1 1 0,17-4 0,-3-1 0,-4 1 0,0 0 0,-1 0 0,-1 1 0,-8-2 0,-1-1 0,1 2 0,-1-3 0,-3 0 0,-2-3 0,0 0 0,0-2 0,0-3 0,-1-2 0,-3 0 0,-3-1 0,-4 5 0,-3 1 0,14-22 0,-13 14 0,-5-3 0,5-12 0,-7-1-195,3-10 195,-8 0 0,3-1 0,-7 10 0,-1 19 0,1 1 0,-1-14 0,8-15 0,-7 12 0,0-1 0,1 10 0,1 0 0,0-21 0,0 0 0,-1 14 0,-1 2 0,-5-2 0,-1 2 0,0 4 0,0 0 0,-4 4 0,0 1 612,-4-27-612,-6 4 0,-5 6 0,-7 9 0,2 9 0,2 10 0,2 9 0,3-1 0,0 4 0,-1-7 0,-3 0 0,1-2 0,-6-3 0,3 2 0,-10-7 0,0 4 0,-2-1 0,-7 6 0,7 7 0,-7 2 0,0-2 0,-5 2 0,-9-4 0,-5 0 0,-5-1 0,27 10 0,3 1 0,-13-6 0,-3 3 0,22 0 0,-6 0 0,2 0 0,-2 1 0,-3-1 0,3-3 0,-8 1 0,7-1 0,-7 0 0,-6-5 0,-12-5 0,25 10 0,-1-2 0,-5 1 0,0-1 0,0 1 0,0 0 0,-3 1 0,0 0 0,0 1 0,1 0 0,4 4 0,0-1 0,-2-1 0,1 0 0,-20 0 0,6-3 0,16 6 0,11-1 0,7 5 0,-3-2 0,8 3 0,-4 0 0,0 0 0,4 0 0,-4 0 0,4 0 0,-3 0 0,2 0 0,-9 0 0,3 0 0,-6 5 0,-4 3 0,0 5 0,-1 0 0,2 3 0,2 3 0,2 4 0,1 3 0,-1 4 0,10-10 0,-4 3 0,13-13 0,-3 2 0,-1-6 0,3 7 0,-2-6 0,0 4 0,-3 2 0,2-2 0,-5 2 0,11-5 0,-1 1 0,5 0 0,0 5 0,4 29 0,6 4 0,-3-3 0,1-15 0</inkml:trace>
  <inkml:trace contextRef="#ctx0" brushRef="#br0" timeOffset="19598">23128 10917 24575,'0'15'0,"0"-3"0,0 3 0,0-4 0,0 1 0,0-3 0,0-1 0,0-2 0,0 0 0,0 0 0,0 0 0,0 0 0,0 2 0,0 2 0,-3 3 0,-1 0 0,-3 3 0,0-2 0,-2 15 0,1 2 0,-3 11 0,0 10 0,4-20 0,2 4 0,-4 5 0,1 4 0,0 13 0,1 3-214,2-16 1,1 2 0,0-1 213,1 0 0,2 0 0,0 1 0,-1 6 0,1 2 0,-1-4 0,0 11 0,0-3 0,2-3 0,-1-4 0,-1-14 0,0-4 0,2 13 0,0-9 0,0-3 0,0-5 0,0-3 0,0-2 0,0-3 640,0-4-640,0 1 0,0-5 0,0 3 0,0-2 0,-2-2 0,-4 2 0,-1-8 0,-1-3 0,2-4 0,1-2 0,-1-3 0,-3-11 0,2-4 0,-3-4 0,3 1 0,0 6 0,-2-14 0,-2 12 0,0-9 0,-3 9 0,5 4 0,-8-11 0,0 5 0,-3-13 0,3 8 0,4-3 0,3 6 0,5-2 0,-4 5 0,2 1 0,-2 4 0,3 6 0,0 0 0,0 6 0,3 3 0,1 9 0,10 7 0,4 14 0,16 5 0,2 13 0,-3-8 0,4 2 0,-15-11 0,7-3 0,-2 4 0,2-9 0,1 6 0,-5-8 0,2-1 0,-6 0 0,2-6 0,-7 3 0,0-7 0,-1 4 0,-4-7 0,4 2 0,0-17 0,-3 0 0,3-9 0,11-15 0,-5 7 0,14-17 0,-8 9 0,5-4 0,-6 4 0,0-3 0,-5 0 0,9-20 0,-9 10 0,4-13 0,-11 21 0,0 3 0,3 3 0,-1 2 0,2 13 0,1 5 0,-1 12 0,-1 6 0,-2 10 0,-2 17 0,-4-3 0,-3-4 0,0-18 0</inkml:trace>
  <inkml:trace contextRef="#ctx0" brushRef="#br0" timeOffset="21264">23055 13018 8191,'0'4'0,"0"12"5063,0 11-5063,0 19 2818,0-14-2818,0 14 0,0-4 0,0 12 1129,0 8-1129,0-27 0,0 3 2588,0 2 1,0 2-2589,0 3 0,0 1 0,0 0 0,0-2 0,0-11 0,0 0 0,0 14 0,0-1 0,0 14 0,0-19 0,0-1 0,0 5 823,0-19-823,2-25 1374,1-3-1374,4-13 0,-1 2 0,-2 5 0,-1 2 0</inkml:trace>
  <inkml:trace contextRef="#ctx0" brushRef="#br0" timeOffset="22464">23341 13129 24575,'0'18'0,"0"1"0,0 15 0,0 1 0,0 8 0,0-7 0,0-2 0,0-10 0,0-7 0,0 3 0,0-4 0,0 6 0,0 0 0,0 0 0,0-2 0,0 2 0,0-2 0,0 11 0,0-2 0,0 9 0,0 0 0,-4 5 0,0 5 0,-4-1 0,4-4 0,1-5 0,3-5 0,0 2 0,0-1 0,0-6 0,0-5 0,0-9 0,0-5 0,0-4 0,0 1 0,0 0 0,2-3 0,2 0 0,4-9 0,-4 5 0,2-5 0</inkml:trace>
  <inkml:trace contextRef="#ctx0" brushRef="#br0" timeOffset="23630">23012 13596 8191,'6'3'0,"8"-1"5063,7-2-5063,13 0 2818,-3 0-2818,6 0 1719,-10 0-1719,2 0 6784,-3 0-6784,-1 0 0,-4 0 0,-2 0 0,-11 0 0,5 0 0,-6 0 0,5 0 0,-5 0 0,1 0 0,-2 0 0,0 0 0,0 0 0,2 0 0,1 0 0,1 0 0,-3 0 0,-4 0 0,0 0 0</inkml:trace>
  <inkml:trace contextRef="#ctx0" brushRef="#br0" timeOffset="25047">23502 14022 24575,'0'-16'0,"0"0"0,0-1 0,0 0 0,0 7 0,0-1 0,0 5 0,3-5 0,-2 4 0,2-5 0,-3 5 0,2-1 0,-1 2 0,2 0 0,-3 0 0,2 2 0,1 2 0,0-1 0,0-6 0,-1 0 0,-1-12 0,4 1 0,-4 0 0,5 2 0,-3 11 0,3 2 0,-4 13 0,3 4 0,-4 9 0,2 4 0,-3 2 0,0 3 0,0 0 0,0 2 0,0 17 0,0 9 0,0-21 0,0 0 0,0-3 0,0 1 0,0 21 0,0-16 0,0-14 0,0-8 0,0-9 0,0-1 0,0 0 0,0-4 0,0 1 0</inkml:trace>
  <inkml:trace contextRef="#ctx0" brushRef="#br0" timeOffset="27614">27492 10751 10385,'0'4'0,"0"20"5060,0 21-5060,0-3 0,0-9 0,0-2 2468,0-9-2468,0 28 1428,0-21-1428,0 8 5234,0-1-5234,0-1 0,0-3 0,0 18 0,0-17 0,0 2 0,0 10 0,0 4 0,0 8 0,0 2 0,0 2 0,0-1 0,0 1 0,0 0 0,0-8 0,0-2 0,0-5 0,0-2 0,0-8 0,0 0 0,0 25 0,-3 1 0,-2-10 0,1-6 0,-4-11 0,7-8 0,-6 3 0,6-3 0,-2 3 0,3-3 0,-4 2 0,3 11 0,-6 4 0,1 8 0,-2-12 0,-4-12 0,2-9 0,1-13 0,1-1 0,3-5 0,-4 0 0,-3 0 0,-4 0 0,4 0 0,-3-3 0,4-1 0,-2-4 0,1 0 0,-1-4 0,-4 1 0,3-5 0,-8-3 0,0-16 0,-3-6 0,1-2 0,11 12 0,-2-2 0,-13-18 0,13 18 0,0 2 0,-13-13 0,11 16 0,6 21 0,6 11 0,8 10 0,4 3 0,3-4 0,8 4 0,-1 1 0,6 2 0,0 2 0,-2-7 0,2 6 0,3-5 0,-4 3 0,10 0 0,-10-3 0,5 3 0,-1-3 0,0 4 0,3 3 0,-9 3 0,-2-4 0,-6-3 0,-5-4 0,1-7 0,-5 1 0,3-4 0,2-2 0,-3 0 0,6-3 0,2 0 0,0-3 0,2-4 0,7-8 0,8-15 0,8-7 0,-1-12 0,-5 5 0,-3 1 0,-6 11 0,3 7 0,-7 11 0,3 2 0,-3 7 0,-3 1 0,-3-1 0,-4 4 0,-4-2 0,1 1 0,0 1 0,-1-2 0,-4 3 0,1 0 0,-4 0 0</inkml:trace>
  <inkml:trace contextRef="#ctx0" brushRef="#br0" timeOffset="28733">27163 13148 24575,'0'26'0,"0"-5"0,0 0 0,0 12 0,0-13 0,0 19 0,0-16 0,0 3 0,0 14 0,0-2 0,0 11 0,0-2 0,0-4 0,0 0 0,0-5 0,0 3 0,0 3 0,0-1 0,0-6 0,0-6 0,0-10 0,0-3 0,0-2 0,0-3 0,0-3 0,0-1 0,0-4 0,0 4 0,0 0 0,0 0 0,0-1 0,3-5 0,-3 0 0,3-3 0</inkml:trace>
  <inkml:trace contextRef="#ctx0" brushRef="#br0" timeOffset="29697">27558 13302 12837,'3'8'0,"0"9"4638,-3-2-4638,0 14 2040,0-9-2040,0 20 1134,0-11-1134,0 6 3926,0 5-3926,0-1 0,0-8 0,0 4 0,0-1 0,0 0 0,0 8 0,0 0 0,0 1 0,0 0 0,0-1 0,0-1 0,0-6 0,0-1 0,0 15 0,0-18 0,0-15 0,0-10 0,0-4 0</inkml:trace>
  <inkml:trace contextRef="#ctx0" brushRef="#br0" timeOffset="30697">27324 13752 8768,'11'-3'0,"8"1"5109,23 2-5109,-7 0 2732,-1 0-2732,-8 0 1640,-4 0-1640,4 0 6326,-6 0-6326,2-4 0,-1 4 0,0-3 0,-3 3 0,-5-2 0,2 1 0,-5-2 0,4 3 0,-5 0 0,0 0 0,-4 0 0,-2 3 0,0 0 0,-3-1 0,0 1 0</inkml:trace>
  <inkml:trace contextRef="#ctx0" brushRef="#br0" timeOffset="32313">27722 13750 24575,'0'12'0,"0"8"0,0 7 0,0 2 0,0-3 0,0 4 0,0-6 0,0 3 0,-3-7 0,-1-6 0,-6 2 0,0 3 0,-3-7 0,3 2 0,-2-5 0,5-2 0,-5 8 0,3-2 0,-1 5 0,1-2 0,5-1 0,-1-6 0,2 2 0,-3-5 0,1 3 0,-1-3 0,0-3 0,3-6 0,1-17 0,2-13 0,10-15 0,9-6 0,17 4 0,1 9 0,2 4 0,-5 20 0,-3 4 0,-5 10 0,-1 3 0,-12 0 0,6 0 0,-9 0 0,0 3 0,-2 3 0,1 4 0,-2 3 0,2-2 0,-2 6 0,0 1 0,0-1 0,-1 4 0,1-4 0,0 14 0,3-6 0,0 5 0,2-14 0,0-7 0,0-6 0,0-3 0,-1 0 0,-2 0 0,-1 0 0,4 0 0,-5 0 0,5 0 0,-4 0 0,-1 0 0,2-3 0,-3 2 0,3-4 0,-2 4 0,1-5 0,-2 6 0,0-5 0,3-1 0,0-10 0,4-7 0,-4-3 0,-2-4 0,-4 8 0,-16 0 0,-8-1 0,4 11 0,-1 1 0</inkml:trace>
  <inkml:trace contextRef="#ctx0" brushRef="#br0" timeOffset="35297">25274 14825 24575,'0'20'0,"0"4"0,0 10 0,0 17 0,0 5 0,0-14 0,0 3 0,0-4 0,0 1 0,0 10 0,0 2 0,0-4 0,0-1 0,0-7 0,0-1 0,0-3 0,0-3 0,0 17 0,3-9 0,-2 9 0,7-3 0,-7-1 0,3 4 0,-4-9 0,0-1 0,0-2 0,0 7 0,0 1 0,0 12 0,3-7 0,-2-1 0,2-13 0,-3-11 0,0-11 0,0-8 0,-2-3 0,-2-4 0,-2-2 0,1 0 0,-1 0 0,1 0 0,-1 0 0,-3 0 0,-5 0 0,0-6 0,-11-2 0,2-6 0,-7-1 0,-21-16 0,24 12 0,-3-2 0,-9-12 0,0-3 0,5 2 0,0-3 0,-2-8 0,2-2 0,9 10 0,2 1 0,0 1 0,2 3 0,-6-8 0,18 25 0,19 18 0,5 12 0,16 13 0,-5 0 0,7 1 0,-4 3 0,4-5 0,-9 0 0,4-6 0,0 6 0,1 0 0,7 4 0,3 5 0,-4-8 0,7 1 0,-10-6 0,1-3 0,-7 2 0,-3-1 0,-4 0 0,-4-1 0,-6-8 0,0 0 0,-3-7 0,0-1 0,0-2 0,0 1 0,2-2 0,-1 1 0,5-2 0,-2 0 0,2 0 0,11 0 0,5 0 0,7 0 0,-1 3 0,-7-2 0,-9 2 0,-5-3 0,-2-10 0,1-4 0,8-9 0,6-4 0,-5 7 0,2 0 0,-7 7 0,-2-14 0,1-3 0,-5-13 0,-5-12 0,-1-3 0,-1-6 0,4 11 0,4 20 0,5 16 0,-1 11 0,9 23 0,-12-13 0,0 11 0</inkml:trace>
  <inkml:trace contextRef="#ctx0" brushRef="#br0" timeOffset="43146">24184 17185 24575,'0'28'0,"0"12"0,0 9 0,0-7 0,0-6 0,0-23 0,0 0 0,0-4 0,0-2 0,2-1 0,6-3 0,9-3 0,9 0 0,-3 0 0,3 0 0,-10-9 0,-4-5 0,-5-6 0,-1-3 0,-5-3 0,5 4 0,-2-8 0,3 3 0,1-3 0,-1-2 0,1 2 0,4-1 0,-4 4 0,8 0 0,-5 8 0,7 6 0,-6 7 0,3 12 0,-2 11 0,-2 11 0,-2 11 0,-2 4 0,0-11 0,0-4 0,0-7 0,-4-9 0,3 3 0,-5-10 0,4-2 0,0-9 0,2-2 0,2-13 0,1-2 0,1-2 0,1 2 0,3 4 0,1 13 0,-1 0 0,0 6 0,-3 0 0,0-3 0,-3 3 0,1-6 0,-4 6 0,6-3 0,-6 3 0,5 0 0,-7 2 0,3 2 0,-6 1 0,1 1 0,1 3 0,0 7 0,4 2 0,-1 12 0,1 0 0,-1 1 0,-2-1 0,-1-10 0,-1-2 0,1-9 0,0-1 0,2-2 0,-2 2 0,3-2 0,1 6 0,-4-5 0,0 2 0,-1-3 0,-1-11 0,2-6 0,3-16 0,1-3 0,0 11 0,-1 4 0</inkml:trace>
  <inkml:trace contextRef="#ctx0" brushRef="#br0" timeOffset="45064">25139 16958 24575,'0'9'0,"0"-1"0,0 0 0,0 7 0,0-1 0,0 1 0,17-9 0,5 0 0,19-2 0,-15-1 0,0 3 0,-20-6 0,3 3 0,-3-3 0,-3 3 0,2-3 0,-4 5 0,2-1 0,-3 1 0,-11-2 0,-4 0 0,-13-3 0,1 0 0,-7 6 0,4-2 0,-4 2 0,3 0 0,8-3 0,5 4 0,8-1 0,2-3 0,4 2 0,0-4 0,1 4 0,-4-2 0,4 3 0,0 2 0,3 1 0,3 3 0,7 3 0,5 0 0,8 2 0,3-1 0,0-9 0,-1-2 0,2-5 0,2 0 0,-8-5 0,1-2 0,-9-6 0,0-4 0,1-4 0,-3-2 0,0-2 0,-4 3 0,1 1 0,-1 0 0,-4 3 0,0 2 0,-5 9 0,-1 4 0,0 16 0,1 3 0,2 10 0,3-1 0,5-1 0,9-3 0,0-4 0,1 2 0,-1-5 0,3 8 0,1-7 0,2 7 0,2-6 0,0 5 0,4-8 0,3 8 0,2-12 0,-3 1 0,-10-35 0,-12-14 0,-7 1 0,-2-3 0,-2 3 0,-2 2 0,-1-24 0,-3 25 0,5 26 0</inkml:trace>
  <inkml:trace contextRef="#ctx0" brushRef="#br0" timeOffset="46264">25768 16761 24575,'21'0'0,"-3"0"0,4 0 0,-7 0 0,4 0 0,-4 0 0,5 0 0,4 0 0,2 0 0,-1 3 0,-5 3 0,-2 1 0,-9-1 0,-1-4 0,1 7 0,1 7 0,3 12 0,-1 2 0,1-3 0,-6-12 0,-1-3 0,-6-6 0,3-1 0,-3 1 0,6 0 0,-6 2 0,6 1 0,-6 0 0,7-1 0,0-2 0,4-3 0,-2 0 0,3-3 0,-7 0 0,3 0 0,-2 0 0,-1 0 0,-2 0 0,0 0 0</inkml:trace>
  <inkml:trace contextRef="#ctx0" brushRef="#br0" timeOffset="47130">26297 16580 13554,'0'9'0,"0"-3"4459,0 20-4459,-7 6 1912,-11 4-1912,-4 10 1053,-11-6-1053,8 2 3597,0 1-3597,11 0 0,-2 0 0,4 4 0,-2 1 0,-3-4 0,4-8 0,-2-13 0,5-6 0,0-8 0,-2 1 0,7-4 0,0-3 0,5 0 0</inkml:trace>
  <inkml:trace contextRef="#ctx0" brushRef="#br0" timeOffset="48646">27077 16438 8191,'0'7'0,"0"1"5063,0 18-5063,0 7 2818,0 3-2818,0 12 1719,0-12-1719,0 2 6784,0-1-6784,0-9 0,0 17 0,0 0 0,0 4 0,0-4 0,-3-9 0,-2-5 0,-3-5 0,1 4 0,3-8 0,-2 4 0,5-9 0,-2 9 0,3-1 0,0 6 0,0 1 0,0-2 0,0 1 0,0-5 0,2-7 0,-1-6 0,2-11 0,-3 0 0,0-4 0</inkml:trace>
  <inkml:trace contextRef="#ctx0" brushRef="#br0" timeOffset="49597">27227 16647 14502,'3'4'0,"0"25"4192,-3 25-4192,1-15 0,-2 2 0,-4 3 0,-2 2 872,1 4 0,-3-1-872,0-7 0,-2-2 474,1 2 0,2-1-474,-1 22 3189,6-11-3189,3-13 0,0-9 0,0-14 0,0-4 0,0-6 0,0-3 0,0-1 0</inkml:trace>
  <inkml:trace contextRef="#ctx0" brushRef="#br0" timeOffset="50529">27054 17079 9397,'2'-3'0,"2"1"5118,1 2-5118,1 0 658,-1 0 0,-2 0 0,0 0 0</inkml:trace>
  <inkml:trace contextRef="#ctx0" brushRef="#br0" timeOffset="51114">27082 17074 24575,'0'3'0,"0"-1"0</inkml:trace>
  <inkml:trace contextRef="#ctx0" brushRef="#br0" timeOffset="52283">27390 17304 8191,'3'-14'0,"-1"-3"5063,-2-17-5063,0 6 2818,0 3-2818,0 20 1719,0 10-1719,2 11 6784,4-2-6784,-2 0 0,2 15 0,-10 14 0,3 16 0,-1-26 0,0 1 0,2 24 0,0-13 0,0-10 0,0-15 0,0-4 0,0 1 0,0-3 0,0 5 0,3-1 0,1-1 0,3 4 0,2-8 0,-4 1 0,0-9 0,-5-3 0</inkml:trace>
  <inkml:trace contextRef="#ctx0" brushRef="#br0" timeOffset="53046">27825 17226 24575,'0'18'0,"0"7"0,0-4 0,0 1 0,0-9 0,0-7 0,0-4 0</inkml:trace>
  <inkml:trace contextRef="#ctx0" brushRef="#br0" timeOffset="54180">28318 16232 8191,'0'21'0,"0"29"5063,0 12-5063,0-16 0,0 4 0,0 7 0,0 1 0,0-1 0,0 1 0,0 0 0,0-2 0,0-1 0,0-2 1409,0-2 0,0-1-1409,-2-4 0,0-2 0,1-10 0,1-3 0,-4 24 1719,4-29-1719,0-4 6784,0-5-6784,0-8 0,0 0 0,-3-3 0,3-5 0,-3 1 0,3-5 0</inkml:trace>
  <inkml:trace contextRef="#ctx0" brushRef="#br0" timeOffset="55296">28437 16598 24575,'5'0'0,"1"0"0,-1 0 0,1 0 0,-3-2 0,-1-1 0,-2-3 0,0 0 0,0 0 0,0 1 0,0 1 0,0 2 0</inkml:trace>
  <inkml:trace contextRef="#ctx0" brushRef="#br0" timeOffset="56496">28616 16392 24575,'0'13'0,"0"8"0,0 8 0,0-5 0,0 0 0,0-13 0,0 5 0,0 4 0,0-3 0,0 9 0,0-8 0,0 5 0,0 3 0,0 6 0,0 5 0,0 10 0,0 2 0,0 3 0,0-9 0,0-15 0,0-2 0,0-12 0,0 2 0,0 1 0,4 1 0,0 2 0,1-2 0,3 2 0,1 4 0,-1-3 0,-1 1 0,-5-9 0,-2-5 0,0-2 0,0 1 0,0 6 0,0 0 0,0-4 0,0-3 0</inkml:trace>
  <inkml:trace contextRef="#ctx0" brushRef="#br0" timeOffset="58214">28860 17206 8964,'11'0'0,"-5"0"5117,7 0-5117,1 0 2701,9 0-2701,-1 6 1614,3 7-1614,-11 14 6179,-4 28-6179,-7 6 0,-8-21 0,-1 2 0,1-4 0,0-2 0,-4-1 0,-1-2 0,-6 20 0,-1-14 0,-2-10 0,-9-2 0,3-6 0,-7 1 0,10-8 0,-8 1 0,3 0 0,-3-4 0,3 1 0,-3-5 0,7-3 0,-8 0 0,6-4 0,-4 0 0,9 0 0,8-12 0,6-3 0,22-14 0,15 0 0,-3 11 0,4 1 0,2 3 0,0 0 0,25-10 0,-10 8 0,-18 2 0,0 5 0,0 1 0,-4 1 0,2 6 0,-6-1 0,6 2 0,-6 0 0,2 0 0,-4 0 0,-4 0 0,6 2 0,-4-1 0,1 2 0,-1-3 0,-9 0 0,2 0 0,0 0 0,0 0 0,-3 0 0,-4-3 0,-3 0 0,1-2 0,1-5 0,-1 4 0,3-4 0,-6 1 0,3 0 0,-3-4 0,0 3 0,0 3 0,0 5 0</inkml:trace>
  <inkml:trace contextRef="#ctx0" brushRef="#br0" timeOffset="60347">28347 16852 24575,'2'0'0,"2"0"0,5 0 0,-1 0 0,-2 0 0,-1 0 0,1 0 0,3 0 0,0 0 0,6 0 0,-3 0 0,3 0 0,0 0 0,-2 0 0,1 0 0,-2 0 0,0 0 0,-1 0 0,-2-2 0,-1 1 0,-2-1 0,0 2 0,-3-2 0,2 1 0,-2-1 0,3 2 0,-1 0 0,0 0 0,-2 0 0,-1 0 0</inkml:trace>
  <inkml:trace contextRef="#ctx0" brushRef="#br0" timeOffset="103930">22238 13306 24575,'-42'0'0,"-14"0"0,1 0 0,7 0 0,9 0 0,17 0 0,5 0 0,0 0 0,4 0 0,1 0 0,-5 0 0,2 6 0,-6 4 0,0 7 0,-1-2 0,5 4 0,5-3 0,8 5 0,1 2 0,3 6 0,0 2 0,3 3 0,10 0 0,3 3 0,1-7 0,0 5 0,-9-13 0,7 3 0,-9-7 0,8 2 0,-4-6 0,4 7 0,-4-8 0,9 9 0,-2-1 0,8 1 0,5-2 0,4-11 0,9-3 0,5-6 0,-1 0 0,-4 0 0,-14 0 0,-10 0 0,-4 0 0,-5 0 0,1 3 0,-5 0 0,-1 3 0,-4 4 0,2-1 0,-1 4 0,-1 3 0,2-1 0,-3 1 0,0-7 0,0 4 0,0-7 0,0 4 0,-12-1 0,-1 0 0,-18 4 0,-3 1 0,-8-6 0,-6-2 0,-5-6 0,6 0 0,12 0 0,6 0 0,9 0 0,6 0 0,-5 0 0,9 0 0,1 0 0,-3-3 0,5 2 0,-2-4 0,0 4 0,2-4 0,-2 4 0,3-2 0,0 3 0,1 0 0,-1 0 0,15 0 0,14 0 0,14 0 0,-4 0 0,-12 0 0,-17 0 0</inkml:trace>
  <inkml:trace contextRef="#ctx0" brushRef="#br0" timeOffset="105595">22277 14194 9437,'0'-5'0,"0"-3"5118,0 2-5118,0-10 2625,6 3-2625,1-5 1551,3-4-1551,-4 2 5844,-1 1-5844,-1 1 0,1 6 0,-1-1 0,-2 5 0,1 2 0,-2-4 0,4 4 0,-5-3 0,6 3 0,-6 0 0,3-3 0,0 2 0,-3-2 0,8 1 0,-1-1 0,4-1 0,-2 2 0,0 4 0,-4 2 0,1 2 0,0 0 0,-3 5 0,-1 15 0,-2 3 0,0 13 0,0 0 0,0-4 0,0 8 0,0-8 0,0 9 0,0-10 0,0 5 0,0-9 0,0 2 0,0 3 0,0 1 0,-3 9 0,-1 1 0,-4 0 0,1 0 0,3-8 0,-2-9 0,3-7 0,-4-9 0,2-2 0,-1-7 0,3 0 0,1-1 0</inkml:trace>
  <inkml:trace contextRef="#ctx0" brushRef="#br0" timeOffset="106745">22868 14144 24575,'0'5'0,"0"7"0,0-5 0,0 4 0,0-5 0,0 1 0,0 5 0,0 11 0,0 3 0,7 16 0,1 6 0,8 10 0,-2-9 0,-6-13 0,-7-19 0,-11-12 0,-1-7 0,-2 1 0,7-2 0,3 3 0</inkml:trace>
  <inkml:trace contextRef="#ctx0" brushRef="#br0" timeOffset="108813">26394 13599 8191,'1'-3'0,"-11"1"5063,-7 2-5063,0 0 2818,-1 0-2818,8 0 1719,-3 0-1719,-8 0 6784,6 2-6784,-9 2 0,2 7 0,0 0 0,-11 11 0,5-1 0,-4 7 0,8-2 0,8-1 0,10 5 0,3 0 0,3 1 0,9-1 0,12-6 0,16 3 0,10-1 0,-4-3 0,-2 3 0,-14-10 0,4 4 0,-4-6 0,-1-2 0,4 3 0,-8-7 0,4 3 0,-10-5 0,1 0 0,-1 4 0,-4-3 0,-2 1 0,-5-2 0,-5 1 0,-12 3 0,-2 3 0,-16 0 0,-9 0 0,-5-2 0,-17 0 0,11-7 0,-1 0 0,16-4 0,4 0 0,0 0 0,8 0 0,-2 0 0,6 0 0,4 0 0,-3 0 0,11 0 0,-1 0 0,-1 3 0,5 0 0,-1 3 0,5 1 0,0 2 0,16 11 0,-12-12 0,13 5 0</inkml:trace>
  <inkml:trace contextRef="#ctx0" brushRef="#br0" timeOffset="110263">26560 14292 24575,'0'12'0,"0"3"0,-3 20 0,-3-8 0,-6 12 0,-3-19 0,-4 8 0,-3-3 0,-8 5 0,2-3 0,-1-3 0,3-6 0,0-2 0,3-8 0,5-3 0,8-7 0,5-7 0,24-9 0,9 1 0,5-1 0,3 7 0,-11 7 0,-3 1 0,3 3 0,-7 0 0,2 0 0,-6 0 0,3 0 0,-5 0 0,-2 0 0,5 0 0,-2 0 0,2 2 0,3 8 0,-5 3 0,1 3 0,-1-5 0,-2-5 0,-2-3 0,0-3 0,-3 0 0,-1 0 0,1 2 0,-1 2 0,5 2 0,-6-3 0,2 0 0</inkml:trace>
  <inkml:trace contextRef="#ctx0" brushRef="#br0" timeOffset="111262">27068 14232 8571,'0'8'0,"0"5"5098,0 14-5098,0-5 2762,0-5-2762,0-6 1667,0-6-1667,0 0 6477,0 1-6477,0 0 0,0 7 0,0 4 0,0 10 0,0-4 0,0 0 0,0-14 0,0-3 0</inkml:trace>
  <inkml:trace contextRef="#ctx0" brushRef="#br1" timeOffset="580973">20933 14370 24575,'0'60'0,"0"-23"0,0 4 0,0 18 0,0 4-1725,0-18 1,0 1-1,0 0 1725,0 17 0,0-1 0,0-6 0,0 2 0,0-10 0,0 3 0,0-3 0,0 7 0,0 1 0,0-2 0,0 3 0,0-2 0,0 4 0,0-1 0,0-15 0,0 1 0,0-1 0,0 20 0,0 0 0,0-2 0,0 2 0,0-17 0,0 0 0,0 2 0,-1 10 0,1 2 0,1 1-68,-1-11 0,1 1 0,1 1 0,0 1 68,0 4 0,3 2 0,-1 0 0,1-2 0,0 8 0,1-4 0,1 1 0,1-2 0,0-1 0,1-4 576,0 7 1,1-4-577,-2-1 0,2-3 0,-3-13 0,1-3 0,4 19 2537,-4-15-2537,-2-8 1686,-5-10-1686,2-5 70,-3-10-70,0 0 0,0-3 0,0 0 0,0 0 0,0-16 0,0 10 0,0-14 0</inkml:trace>
  <inkml:trace contextRef="#ctx0" brushRef="#br1" timeOffset="582126">21043 13083 24575,'0'22'0,"0"10"0,0 1 0,0 6 0,0 10 0,0 5 0,0-9 0,0 4 0,0 1-578,0 4 1,0 1 0,0 2 577,0-10 0,0 1 0,0 1 0,0 1 0,0 1 0,0 0 0,0 1 0,0 0-944,0 4 0,0 0 0,0 0 1,0-2 943,0 7 0,0-1 0,0-1 0,0 0 0,0 1 0,0-5-878,0 1 1,0-3 877,0-10 0,0 1 0,0-2 0,0 9 0,0 0-600,0 6 0,0-1 600,-2-6 0,-1-2 61,2-9 0,-3 0-61,-3 4 0,-1 0 0,-3 19 1700,2-28 0,0 0-1700,4 6 0,0-2 2063,-7 20-2063,7 2 1757,1-30-1757,7-17 280,4-21 0,-2 4 0,1-9 0</inkml:trace>
  <inkml:trace contextRef="#ctx0" brushRef="#br1" timeOffset="586991">21196 13036 24575,'56'0'0,"0"0"0,6 0 0,-7 0 0,2 0-1515,-11 0 1,5 0-1,-2 0 1,-1 0 1514,12 0 0,1 0 0,-14 0 0,4 0 0,-1 0 0,-3 0 0,17 0 0,0 0 0,-6 0 0,4 0 0,-2 0 0,-11 0 0,-2 0 0,1 0 0,5 0 0,1 0 0,1 0-914,2 0 0,1 0 0,1 0 914,-10 0 0,2 0 0,-1 0 0,-3 0 0,2 0 0,-2 0 0,5 0 27,-4 0 1,5 0 0,2 0-1,-1 0 1,-2 0-28,-1 0 0,-2 0 0,0 0 0,4 0 0,4 0 0,2 0 0,3 0 0,-1 0 0,-3 0 0,4 0 0,-1 0 0,-1 0 0,-1 0 0,-3 0 0,-1 0 0,-2 0 0,2 0-299,-3 0 0,1 0 1,-1 0-1,2 0 299,3 0 0,1 0 0,0 0 0,0 0 0,2 0 0,1 0 0,0 0 0,-1 0 0,0 0 0,1 0 0,0 0 0,-2 0 0,-5 0 0,0 0 0,-1 0 0,-1 0 416,12 0 1,-2 0-1,-1 0-416,0 0 0,-1 0 0,-3 0 0,-12 0 0,-3 0 0,0 0 1001,22 0 0,-2 0-1001,-17 0 0,-2 0 0,6 0 0,0 0 0,1 0 0,0 0 0,7 0 0,-1 0 0,-6 0 0,0 0 0,0 0 0,-2 0 919,-14 0 1,2 0-920,7 0 0,4 0 0,0 0 0,9 0 0,3 0 180,-14 0 0,4 0 0,2 0 0,-3 0-180,11 0 0,-2 0 0,0 0 0,1 0 0,2 0 0,-1 0 0,-1 0 0,-1 0 0,0 0 0,-1 0 0,0 0 0,0 0 0,1 0 0,0 0 0,0 0 0,2 0 0,1 1 0,1-2 0,-13-1 0,0-1 0,2 0 0,-1 0-650,4 3 0,2 0 0,-2-1 0,-1 0 650,7-4 0,-4-1 0,1 1 0,0 3 0,-2 0 0,-5 1 204,-8-2 1,-2-1-205,7-1 0,0 1 0,12 2 0,-14-3 0,0 1 0,18 3-230,-24-2 0,-3 1 230,20 2 0,5 0 0,-7 0 439,-17 0 0,1 0-439,-5 0 0,3 0 1955,6 0 1,0 0-1956,18 3 1164,-3 4-1164,-14 4 745,1 3-745,-1-3 0,4-4 0,6-4 0,-3-3 0,-8 0 0,-13 0 0,-12 0 0,-3 3 0,-3 1 0,-1 2 0,-3 3 0,-4 4 0,1 5 0,-3 21 0,-6 15 0,0-19 0,-2 4 0,-4 5 0,-2 1 0,-1 5 0,-1 2 0,1 2 0,3 1-236,-1 6 1,2 1 235,7-19 0,1 2 0,1 0 0,0-1 0,0 1 0,1 3-459,1 6 0,-1 3 0,2 1 459,3 4 0,2 1 0,0 1-547,0-8 0,0 2 1,0 1-1,1 0 547,1 2 0,2 1 0,-1 1 0,1 0 0,-1-8 0,-1 1 0,1 0 0,0-1 0,-2-2-925,1 4 1,-2-3 0,0 0-1,0-1 925,0 1 0,1 1 0,-1-2 0,-1-3 0,0 0 0,-1-3 0,0 0-453,-1 1 0,-1 0 0,-1-2 453,2 18 0,-1-2-86,1-14 1,-2-1 85,0 3 0,-1 1 702,4-1 1,1 1-703,-2 5 0,-1 2 0,1 2 0,0 1 0,-1-4 0,0-2 0,-2-6 0,0-1 0,2 0 0,0-1 1830,-2-2 1,1-1-1831,2-3 0,1 1 1186,-1 0 1,-2 0-1187,1-1 0,0 0 0,3 5 0,-2-3 0,-2 18 0,1-27 0,0-3 0,-2 1 1685,0 3-1685,0-4 139,0 0-139,0-1 0,0 2 0,0-2 0,0 5 0,0 8 0,0-5 0,0 8 0,0 15 0,2-29 0,0 2 0,0 8 0,0 1 0,2-9 0,0 0 0,3 27 0,-3-9 0,-1-4 0,-3-2 0,0-8 0,0 0 0,0-3 0,0-7 0,0 3 0,0-9 0,0 4 0,0-5 0,0-4 0,0-1 0,0-6 0,0-1 0,0-3 0,-5-2 0,-8-2 0,-10-2 0,-8 0 0,-2 0 0,-6 0 0,-13-7 0,-7-6 0,18 2 0,-1 1 0,-19-8 0,27 9 0,2 1 0,-15 4 0,4-3 0,-4 6 0,5-3 0,0 4 0,0-4 0,6 4 0,-5-4 0,9 4 0,-4-4 0,6 3 0,-15-2 0,2 3 0,-14 0 0,9 0 0,-7 0 0,1 3 0,22 1 0,-2 0 0,0 1 0,0-1 0,-3 2 0,1-1 0,3 1 0,-1-1 0,-2 0 0,0-1 0,-7 4 0,-3 1 0,-3-2 0,-1-1 0,1 1 0,1 0-567,2 0-1,1 0 568,7-2 0,2 0 0,-2 0 0,1-1 0,-2 3 0,2 1 0,-3-3 0,0 1 0,-1 4 0,-1 0 0,0-6 0,1 2 0,-4 4 0,1 0 0,3-4 0,0 0 0,1 3 0,-2 1 0,-16-2 0,-2 0 0,19 0 0,-2 1 0,-1-2 0,-13 1 0,-2-1 0,-2 1 0,-2 0 0,0 1 0,0-1 0,0 0 0,-1-1 0,1 0 0,15-2 0,-1 1 0,0-1 0,1 1-367,-1 0 1,0-2 0,0 2 0,1-1 366,-2-1 0,0 1 0,1-1 0,0 0-910,-8 1 0,1 1 0,0-1 910,2-2 0,0 1 0,4 0 0,-9 2 0,2 0-973,-3 0 0,-2-1 973,0-1 0,-2-1 0,18 1 0,-1 0 0,31-3 0</inkml:trace>
  <inkml:trace contextRef="#ctx0" brushRef="#br1" timeOffset="586991">21561 18819 24575,'-31'-11'0,"-24"-9"0,8 2 0,2 1 0,2-2 0,1 1 0,0 0 0,2 2 0,-15-5 0,9-5 0,17 13 0,4-9 0,-2-3 0,8 2 0,-1-7 0,2 6 0,5-1 0,-11-4 0,7 5 0,-7-6 0,5 4 0,9 0 0,4-7 0,6-6 0,0-5 0,6-2 0,-1 2 0,2 2 0,2-5 0,0-1 0,2 6 0,1 2 0,-8 9 0,3-14 0,-3 11 0,0-6 0,-1 5 0,-3 1 0,3-8 0,-2-1 0,5 5 0,-2 0 0,0 7 0,0 5 0,-4 4 0,0 3 0,0 0 0,0 3 0,0 1 0,0 6 0,0-3 0,0 2 0,0 0 0,0 2 0,0-1 0,0 2 0,0-5 0,0 5 0,0-4 0,0-2 0,0 0 0,0-2 0,0-2 0,0 0 0,0-5 0,0 3 0,0 0 0,0 1 0,0 2 0,0 3 0,0 4 0,0 4 0,0-1 0,0-2 0,0-2 0,0 1 0,0 1 0,2 12 0,-1-5 0,1 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11:31:02.38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23249 8703 8191,'-49'0'0,"14"0"0,-3 0 2378,-20 0 0,-3 0-2378,15 0 0,0 0 0,-2 0 0,-2 0 0,-1 0 0,0 0 0,2 0 0,1 0 0,-1 0 760,-3 0 1,-1 0 0,1 0-761,2 1 0,2 0 0,-2 1 0,-2 3 0,-2 1 0,1 2 0,2 1 0,1 2 0,-1 1 0,0 2 0,1 1 0,-1 2 0,1 2 0,0 1 0,3 0 350,-13 5 1,4-1-351,5 3 0,5 0 0,-8 7 5273,-1-1-5273,8-2 0,-4 2 0,-1 5 0,12-3 0,0-4 294,10 3-294,1-4 334,9-1 1,0 6-335,-1 3 0,-1 5 0,5-4 0,-2 4 0,2 1 150,-2 5 0,0 3 1,2 0-151,1 0 0,2 1 0,1 1 0,0 2 0,0 1 0,2 0 9,3-7 1,1 0 0,2-1-10,0 1 0,2-1 0,0-1 0,0 13 0,2-1 0,4 2 0,2-4 0,1-19 0,2-2 0,1-1 0,4-4 0,12 6 0,0-9 0,-1 0 0,5-5 0,-5 0 1279,9 1-1279,-5-5 0,2 8 0,13 1 650,-19 0-650,19 6 0,-2 4 0,-14-16 0,2-1 0,8 2 0,3-1 0,0-3 0,1-2 0,1-3 0,1-1 0,2-1 0,0 0 0,-1-1 0,-1 1 0,2 2 0,0 0 0,-2-2 0,-1 0 0,7 7 0,-1-1 0,-11-7 0,0 0 0,3 6 0,0-1 0,-6-3 0,1-1 0,0 2 0,1 0 0,-5-4 0,-1 0 0,3 1 0,-1-1 0,13 3 0,4 4 0,4-4 0,-3-2 0,-15-3 0,3-1 0,3 0 0,2-1 0,-1 0 0,3 1 0,-1-2 0,17 2 0,0-1 0,-15-4 0,1-1 0,-2 1 0,14 1 0,-2 0 0,-4-1 0,-2-1 0,-2 0 0,-1 1 0,-2 1 0,-1-1 0,4-2 0,-2-1 0,-9 3 0,-1-2 0,5-2 0,2-2 0,-1-3 0,0-2 0,-6 1 0,1-2-553,12-3 1,-1 0 552,-13 4 0,-1 1 0,2-3 0,1 0 0,0 5 0,-1-1-437,21-7 437,-21 7 0,-1 2 0,14-5 0,11-5 0,-6 4 0,0-7-8,-11 3 1,4 0 7,-2 0 0,2-2 0,-5 1 0,1-2 0,-1 2 0,14-3 0,-1 1 0,-1-3 0,-1 0 0,-4 4 0,-1 0 0,-5-3 0,0 0 0,1-1 0,-1 0 0,-1-1 0,-2-1 0,-8 4 0,0 1 539,2 0 0,0-1-539,-4 0 0,0-1 0,22-10 0,-24 11 0,0-1 0,14-12 0,-8 1 0,4-2 463,-9-1-463,3 7 16,-6-7-16,-3 8 0,2-12 0,-7 3 0,0-4 0,-2 6 0,-6-4 0,7-2 0,-3-11 0,3 0 0,-3-3 0,-3 12 0,-2-7 0,-3 15 0,-3-6 0,-1 16 0,-3-4 0,0 8 0,0 0 0,0-3 0,0-1 0,0-1 0,0-3 0,0 0 0,0 3 0,0-3 0,0-5 0,0-3 0,0-9 0,0-1 0,-3-3 0,-2-2 0,-2 0 0,2 9 0,-1 12 0,3 7 0,-6 5 0,2 2 0,-2-1 0,3 5 0,-4-3 0,0 0 0,-1-1 0,-1 1 0,2 0 0,-4 0 0,-5-3 0,-1-1 0,-4-3 0,-1 3 0,1-2 0,-2 5 0,0-5 0,-5 5 0,-4-3 0,0 0 0,-12-2 0,6-6 0,3 5 0,6-5 0,14 11 0,-5-9 0,5 8 0,-1-3 0,-3 0 0,8 3 0,-8-3 0,8 4 0,-7-4 0,-7-3 0,-8-10 0,10 11 0,-2 0 0,2 0 0,-1 0 0,-5-3 0,-1 1 0,5 3 0,0 2 0,-26-18 0,2 5 0,3 1 0,-8-2 0,25 15 0,0 0 0,-5 0 0,0-1 0,-19-8 0,-5 1 0,24 7 0,-6 0 0,1 0 0,4 4 0,-3 1 0,8 4 0,-8-5 0,8 4 0,-4-3 0,-13 4 0,0-3 0,14 4 0,-1 1 0,4 0 0,2-1 0,-33-8 0,7 7 0,3-3 0,1 3 0,0 3 0,14 2 0,-1 3 0,17 0 0,-7 0 0,2 0 0,1 0 0,-3 0 0,3 0 0,0 0 0,-4 3 0,4 2 0,0-1 0,1 3 0,-5 0 0,-3 4 0,-10 0 0,0 0 0,8-4 0,2 0 0,11-1 0,0 4 0,1 0 0,2 2 0,-3 1 0,4 0 0,2-3 0,5-1 0,2-3 0,1 0 0,2 0 0,-2 0 0,3 3 0,-6 1 0,1 6 0,-2-6 0,4 2 0,3-4 0,-11 14 0,11-12 0,-8 8 0</inkml:trace>
  <inkml:trace contextRef="#ctx0" brushRef="#br0" timeOffset="5517">22598 10301 8191,'3'12'0,"-1"5"5063,-2 9-5063,0 10 2818,0 18-2818,0-22 0,0 3 0,0 26 0,0 3 0,0-12 0,0-1 112,0-8 1,0 2 0,0-2-113,0 12 0,0-5 0,0-15 0,0-1 2645,0 22 0,0-3-2645,0-2 0,0-11 0,0 1 0,0 14 0,0 2 0,0-18 0,0 2 0,0-3 0,0 2 0,0 6 0,0 0 987,0-3 0,0-1-987,0-2 0,0-1 450,0-2 1,0 0-451,1-3 0,-2 1 0,0 4 0,-1-1 0,1-3 0,1 1 0,-2 5 0,0 1 0,0-6 0,0-2 0,1 25 0,-2-18 0,3-15 0,-3-4 0,2-1 0,-2-3 0,3 3 0,-4-3 0,4-1 0,-7 4 0,6-3 0,-5 9 0,2-5 0,1 4 0,-3-10 0,5-3 0,-1-5 0,2-2 0,-3-3 0,0-3 0,0-7 0,-3-2 0,0-11 0,-2 6 0,-2-5 0,1 5 0,2 1 0,-7-4 0,-1-6 0,-2-10 0,-5-11 0,4-5 0,1 4 0,-4-2 0,-3 1 0,-3 4 0,-2 5 0,8 20 0,8 25 0,8 19 0,8 3 0,1 6 0,3-5 0,0-11 0,-3 4 0,2-12 0,-5-5 0,4 2 0,-1-3 0,2 0 0,0 0 0,3 0 0,1 0 0,0 0 0,2 1 0,-5-1 0,8 3 0,-5 4 0,5 3 0,-2 0 0,2 2 0,1-2 0,3 0 0,0 5 0,0-7 0,-2 5 0,4-6 0,-7-4 0,5 1 0,-6-4 0,0 1 0,1-1 0,-1 1 0,-3-1 0,-1 0 0,-3 0 0,0-2 0,-1-2 0,10-21 0,-3 1 0,12-24 0,-7 10 0,3-5 0,2 0 0,-3 6 0,8 0 0,-4 16 0,4 6 0,-4 9 0,-1 0 0,-6 0 0,-6 3 0,-5-3 0,-5 3 0</inkml:trace>
  <inkml:trace contextRef="#ctx0" brushRef="#br0" timeOffset="7483">22448 13197 24575,'0'54'0,"0"-16"0,0 1 0,0-2 0,0 0 0,0 5 0,0-2 0,0 9 0,0-3 0,0-10 0,0 7 0,0-7 0,0 3 0,0 4 0,0 2 0,0 12 0,0-17 0,0 0 0,0-14 0,0-7 0,0 6 0,0-11 0,0 7 0,0-7 0,0 6 0,0 4 0,-3 5 0,2 2 0,-2 3 0,0-7 0,-1 0 0,-2-5 0,0-6 0,2-1 0,-1-6 0,4-5 0,-1-2 0,2-5 0</inkml:trace>
  <inkml:trace contextRef="#ctx0" brushRef="#br0" timeOffset="8750">22793 13325 24575,'0'13'0,"0"17"0,0 14 0,0 21 0,0-30 0,0 1 0,0 3 0,0 1 0,0-1 0,0 0 0,0 1 0,0 0 0,0-2 0,0-1 0,0-1 0,0 1 0,0-1 0,0 1 0,0 1 0,0 0 0,0-3 0,0-1 0,4 20 0,-4-21 0,4-10 0,-4-6 0,2-6 0,-1 5 0,1-6 0,-2 0 0,0 5 0,0-5 0,0 5 0,3-6 0,-2 0 0,1-3 0,-2-3 0,0-1 0</inkml:trace>
  <inkml:trace contextRef="#ctx0" brushRef="#br0" timeOffset="10267">22453 13891 8191,'12'-3'0,"4"0"5063,10 3-5063,2 0 2818,2 0-2818,-2 0 1719,-8 0-1719,-1 0 6784,-6 0-6784,0 0 0,0 0 0,0 0 0,-3 0 0,2 0 0,-5 0 0,6 0 0,-4 0 0,3 0 0,0 0 0,0 0 0,0 0 0,0 0 0,-3-5 0,0 4 0,-4-5 0,1 4 0,0 1 0,-1-1 0,1 2 0,-1 0 0,1 0 0,0 0 0,0 2 0,-3-1 0,-1 1 0</inkml:trace>
  <inkml:trace contextRef="#ctx0" brushRef="#br0" timeOffset="59299">22967 13286 24575,'11'0'0,"6"0"0,-7 0 0,2 0 0,-4 0 0,0 3 0,1-2 0,1 4 0,1-2 0,-5 3 0,3 0 0,7 13 0,-8-7 0,11 11 0,-9-10 0,0 0 0,0-3 0,-4-1 0,0-5 0,0-2 0,-3-7 0,2 4 0,1-4 0,0 5 0,5 0 0,-4 0 0,1 0 0,-2 0 0,-3 0 0,0 0 0</inkml:trace>
  <inkml:trace contextRef="#ctx0" brushRef="#br0" timeOffset="60583">23227 13308 24575,'-12'0'0,"2"0"0,-3 0 0,4 0 0,6 5 0,0-1 0,3 5 0,0-4 0,0 1 0,0 0 0,0 0 0,0 0 0,0 0 0,0 0 0,0 3 0,0-2 0,0 2 0,0-3 0,0 3 0,0-3 0,0 3 0,0-1 0,0 1 0,0 6 0,-8-4 0,-6-2 0,-9-6 0,-4-9 0,10 2 0,-2-6 0,10 7 0,-1 0 0,2 3 0,2 0 0,3 0 0,0 0 0</inkml:trace>
  <inkml:trace contextRef="#ctx0" brushRef="#br0" timeOffset="61799">23180 13183 24575,'0'17'0,"0"3"0,0 6 0,0-6 0,0-3 0,0-9 0,0 3 0,0 2 0,0 6 0,0-3 0,0-3 0,0-4 0,0-3 0,0 0 0,-3 0 0,3 0 0,-3 0 0,3-1 0,0 5 0,0 0 0,0 12 0,0 0 0,6 8 0,-2-7 0,8-1 0,-2 0 0,3 5 0,1 8 0,3 4 0,1 4 0,4-3 0,-11-17 0,-2-8 0</inkml:trace>
  <inkml:trace contextRef="#ctx0" brushRef="#br0" timeOffset="73266">22415 9136 8344,'-11'0'0,"-21"0"4437,-32 0-4437,30 4 0,-2 1 0,-9 2 0,2 1 0,-9 7 0,19-1 0,2-1 0,-10-2 1437,0 5 0,-2 2-1437,13-5 0,0 1 888,-12 5 1,0 1-889,11-3 0,2 1 6424,-25 16-6424,10-4 719,8 2-719,9-6 0,6 8 0,-1 16 0,2 5 0,3 4 0,-3-7 0,11-9 0,-3-1 0,0-4 0,3-2 0,-3 0 0,8-3 0,-4 3 0,4 1 0,-4-5 0,-4 24 0,-1-1 0,6-23 0,1 0 0,-2 26 0,5-10 0,3-5 0,0 0 0,3 0 0,4 0 0,7 1 0,7-5 0,4-1 0,-3-9 0,-2-5 0,-7-7 0,4-3 0,-3-1 0,7 1 0,-3 0 0,0 0 0,2 0 0,-6-1 0,7 2 0,-1 1 0,4 1 0,2 3 0,-2-4 0,1 0 0,-2-3 0,7 1 0,-3-4 0,3-3 0,-3-1 0,-7-6 0,3 6 0,-5-5 0,3 6 0,1-3 0,-1 3 0,1 0 0,4 1 0,-3-4 0,3 2 0,-5-5 0,1 2 0,4-3 0,6 0 0,15 7 0,3 2 0,11 6 0,-7 0 0,4 1 0,-5-1 0,-5-1 0,-4-2 0,-5-5 0,-8-4 0,2-3 0,-7 0 0,5 0 0,-4 0 0,5 0 0,4 0 0,-3 0 0,3 0 0,-4 0 0,-1 0 0,-4 0 0,-1 0 0,5 0 0,-1 0 0,12 0 0,-2-3 0,7-4 0,2-5 0,8 0 0,-3 4 0,-10 1 0,-9 3 0,-9 0 0,-3-2 0,21-5 0,-8-3 0,10-2 0,-4 0 0,-10 4 0,9-9 0,-8 4 0,3-3 0,-4 4 0,-5 1 0,8-6 0,-5-1 0,6-7 0,-5-2 0,-10 0 0,-1-4 0,-6 0 0,-3 0 0,-2 4 0,-2 1 0,-1-1 0,1 4 0,-3 3 0,-1 1 0,-3 9 0,0-3 0,0 0 0,0 3 0,0-3 0,0-6 0,0-3 0,0-9 0,0-3 0,0 2 0,0-3 0,0 4 0,0 0 0,0 1 0,-7-5 0,-4-1 0,-8-3 0,1 9 0,3 7 0,-8-13 0,10 21 0,-11-21 0,13 17 0,-3 0 0,2-7 0,-3 3 0,-1-5 0,1 1 0,-8-10 0,3-3 0,-12-1 0,1-3 0,-7 7 0,1-1 0,-1 1 0,1 4 0,5 8 0,1 2 0,7 9 0,7 5 0,1 0 0,2 6 0,-6-12 0,1 10 0,0-9 0,2 7 0,3 0 0,-7 1 0,7 3 0,-7 0 0,7 0 0,-7 3 0,1 1 0,-8 3 0,1 0 0,-7 0 0,7-3 0,-7 0 0,-1-4 0,-1 0 0,-7-1 0,13 4 0,3 1 0,-4 3 0,7 0 0,-9 0 0,3 0 0,7 0 0,-7 0 0,7 0 0,-3-3 0,8 2 0,-3-2 0,7 3 0,-3 0 0,-2 0 0,-2 0 0,-5 0 0,3 0 0,-3 0 0,-1 0 0,0 0 0,-4 6 0,5-2 0,3 5 0,3-2 0,7-4 0,1 5 0,6-6 0,0 6 0,3-2 0,3 23 0,0-4 0,22 29 0,-17-33 0,17 5 0</inkml:trace>
  <inkml:trace contextRef="#ctx0" brushRef="#br0" timeOffset="75536">21958 10568 24575,'0'-20'0,"0"6"0,0-2 0,0 6 0,0-3 0,0-10 0,0 5 0,0-5 0,0 1 0,0 1 0,0-9 0,0-5 0,13-9 0,9-11 0,-7 26 0,2-1 0,16-21 0,-9 5 0,-8 18 0,-2 2 0,-6 4 0,5 4 0,-5 1 0,1 4 0,-3 3 0,1-2 0,-1 5 0,0-6 0,-2 3 0,5-13 0,-2-2 0,7-13 0,0 2 0,0 1 0,-3 1 0,-2 6 0,1-2 0,-3 4 0,5 6 0,-5 1 0,1 10 0,-5 0 0,0 3 0,0 0 0,-3 0 0,3 22 0,-3 19 0,0 29 0,0-22 0,0 2 0,3-1 0,2 0 0,-3 3 0,1-1 0,3-5 0,0 0 0,-3 2 0,-1-1 0,2 16 0,-4 3 0,0-32 0,0 7 0,0-2 0,0-5 0,0-1 0,0-6 0,0-7 0,0 7 0,0-7 0,0 6 0,0-5 0,0 1 0,0-2 0,0-4 0,0 1 0,0-12 0,0 5 0,0-9 0</inkml:trace>
  <inkml:trace contextRef="#ctx0" brushRef="#br0" timeOffset="76683">22126 10196 24575,'9'0'0,"3"0"0,1 0 0,1 0 0,1 0 0,-5 0 0,5 0 0,-9 0 0,5 0 0,-5 0 0,3 0 0,-3 0 0,0 0 0,0 0 0,0 0 0,0 0 0,0 0 0,-1 0 0,1 0 0,0 3 0,3-2 0,-3 1 0,5-2 0,-5 0 0,3 0 0,-4 0 0,1 0 0,-1 0 0,-2 0 0,0 0 0</inkml:trace>
  <inkml:trace contextRef="#ctx0" brushRef="#br0" timeOffset="78485">22391 10295 24575,'11'0'0,"7"0"0,-1 0 0,13 9 0,-2 3 0,6 5 0,-3 0 0,-4-4 0,-8-1 0,-6-2 0,-4 2 0,-3-2 0,-2 7 0,-1 0 0,0 5 0,-2 4 0,2-7 0,-3 6 0,0-7 0,0 0 0,0-2 0,0-6 0,-9 2 0,-9-1 0,-9 2 0,-5 0 0,2 1 0,4-1 0,2 0 0,-1-3 0,11-4 0,-5-3 0,12-3 0,-2 0 0,6-5 0,1-6 0,2-7 0,0-8 0,0 4 0,6-4 0,2 4 0,6 0 0,4 4 0,6 0 0,9 10 0,6 2 0,1 6 0,-2 0 0,-7 6 0,-4 4 0,-4 4 0,-7 1 0,2 0 0,-2 1 0,0 7 0,0-6 0,-6 2 0,0-6 0,-1 0 0,-2-3 0,3-1 0,-4-3 0,-1 0 0,1-3 0,0 0 0,0-3 0,-1 0 0,-2 0 0,0 0 0</inkml:trace>
  <inkml:trace contextRef="#ctx0" brushRef="#br0" timeOffset="84116">21667 9456 24575,'0'8'0,"0"5"0,0 9 0,0 1 0,0 12 0,0-7 0,0 19 0,0-11 0,0 3 0,0-2 0,0 2 0,0 17 0,0 1 0,0-9 0,0-2 0,0 0 0,0 0 0,0 0 0,0-2 0,0-11 0,0-1 0,0 5 0,0-2 0,0 19 0,6-1 0,-4-15 0,4-7 0,-3-7 0,-2-6 0,2-2 0,-3-4 0,0-2 0,0 3 0,3 14 0,1-1 0,3 17 0,-4-11 0,0 0 0,-3-13 0,0-6 0,0-2 0,0-5 0,3 5 0,13-7 0,2 1 0,6-5 0,-8 0 0,-4-3 0,-5-4 0,3-3 0,-4-3 0,-2 0 0,2-1 0,-2 1 0,2-4 0,1-1 0,10-14 0,14-22 0,-14 23 0,-1-1 0,6-16 0,-3-4 0,-5 5 0,-2 0 0,-2-4 0,-2 1 0,-2 6 0,-3 1 0,0 8 0,-2 2 0,-1-20 0,0 15 0,0 6 0,0-3 0,0 5 0,0-11 0,0 14 0,0-4 0,0 4 0,0-4 0,0 4 0,0-18 0,0 9 0,0-20 0,0 15 0,0 2 0,0 12 0,0 1 0,6 3 0,2-7 0,2 6 0,-1 1 0,-3 7 0,0 7 0,-1 3 0,1 4 0,-3 4 0,-1 8 0,-2 5 0,0 20 0,4 14 0,-4-16 0,1 3 0,2 1 0,1 1 0,-4 4 0,1 0 0,0-7 0,1 0 0,-2 4 0,0 0 0,2-5 0,0 1 0,0 4 0,1 0 0,2 2 0,2-2 0,-3-5 0,1-2 0,7 25 0,-3-16 0,-2-8 0,1-1 0,0-2 0,-1-11 0,0 6 0,-3-7 0,2 0 0,-2 2 0,3-6 0,0 3 0,5 6 0,3 2 0,8 6 0,0-1 0,4 0 0,7-1 0,-2 1 0,7-2 0,-8-9 0,-7-6 0,-8-10 0,-4-3 0,-2-3 0,7-17 0,-2-16 0,4-4 0,-3-11 0,0 18 0,0-3 0,0 0 0,0 3 0,0-4 0,10-5 0,-1 3 0,-7 7 0,-1-3 0,-3-6 0,-3-2 0,2-6 0,-1-3 0,-2-5 0,-1-2 0,0 6 0,0 1 0,-1 9 0,0 3 0,11-21 0,-2 25 0,6 16 0,-6 5 0,1 2 0,-9 4 0,0 0 0,-3 3 0,3 3 0,-2 0 0,2 3 0,-3 0 0,3 0 0,0 0 0,1 12 0,-4 15 0,-3 14 0,-3-8 0,0 2 0,0-1 0,0 2 0,-4 18 0,-1 1 0,2-10 0,0 1 0,-2 14 0,0 0 0,3-10 0,0 0 0,2 5 0,0 0 0,0-4 0,0-3 0,0-11 0,0-2 0,4 25 0,0-27 0,15 17 0,-9-15 0,8 10 0,-4-8 0,-1 1 0,3-6 0,-2-2 0,-2-14 0,0-1 0,0-8 0,0-2 0,1-29 0,1-15 0,9-20 0,-10 26 0,2 1 0,2 2 0,2 2 0,13-14 0,-5 1 0,-4 17 0,-7-7 0,8 2 0,-7-8 0,3 3 0,5-22 0,-4 10 0,6-14 0,-6 20 0,-1 9 0,0 15 0,-1 3 0,0 10 0,0 0 0,-3 3 0,2 0 0,-8 0 0,2 0 0,-3 0 0,-3 0 0,3 0 0,-4 0 0,1 0 0,0 2 0,-3 5 0,3 3 0,-2 7 0,0 0 0,2 5 0,-5 0 0,2 4 0,1 20 0,0 4 0,0-17 0,0 1 0,3 20 0,0-5 0,0-15 0,2-10 0,-2-6 0,4-6 0,-1 0 0,-4 0 0,2-2 0,-4 2 0,2-2 0,1 3 0,-1 0 0,1 1 0,18 15 0,-17-18 0,14 11 0</inkml:trace>
  <inkml:trace contextRef="#ctx0" brushRef="#br0" timeOffset="91266">25057 10397 8191,'3'10'0,"-1"7"5063,-2 13-5063,0-3 2818,0 4-2818,0 0 1719,0 3-1719,0 8 6784,4 6-6784,1-4 0,4 9 0,0-3 0,0-1 0,0 4 0,-1-9 0,1 4 0,3 13 0,-5-20 0,0 3 0,0 5 0,0 3 0,0 6 0,-1 1 0,-3-7 0,-1 0 0,0 7 0,0 0 0,-2-8 0,0-1 0,0 9 0,0 0 0,0-9 0,0-1 0,0 2 0,0 0 0,0 1 0,0-1 0,0-1 0,0-1 0,0-6 0,0-2 0,0-6 0,0-2 0,0 20 0,0-3 0,0-17 0,0 1 0,0 14 0,0 11 0,0-16 0,0 1 0,0-11 0,0 1 0,0 18 0,0-19 0,0 1 0,0 19 0,0 0 0,0-5 0,-3-4 0,2-5 0,-2-14 0,3-6 0,0 0 0,0-2 0,0 0 0,0 1 0,0-8 0,0 0 0,0 2 0,-3-5 0,3 2 0,-3 0 0,3-2 0,0 6 0,0-3 0,0-1 0,0 4 0,0-1 0,-3 2 0,0 1 0,-3-3 0,3-1 0,-3 1 0,6 0 0,-3-3 0,-2-3 0,-2-3 0,-8-3 0,5 0 0,-2 0 0,9 2 0,0 2 0,3 1 0,0 1 0,0-1 0,3 4 0,3 0 0,0 2 0,0 1 0,-1 0 0,-4 0 0,2 3 0,-3 4 0,2 1 0,2 5 0,-1-7 0,0 1 0,0-2 0,-2 0 0,2 5 0,1 0 0,-4 4 0,7 10 0,-3 8 0,0-5 0,-1 1 0,-3-8 0,0 6 0,0 5 0,0 1 0,0 0 0,0-4 0,0-1 0,-6-8 0,-1-4 0,-6-5 0,3-6 0,1 0 0,2-6 0,1-1 0,3-3 0,-3 0 0,3 3 0,-1-2 0,-2 2 0,3 0 0,0 0 0,-3 3 0,3-3 0,-3-3 0,-2-4 0,2-2 0,-3 0 0,1 5 0,4-3 0,-1 3 0</inkml:trace>
  <inkml:trace contextRef="#ctx0" brushRef="#br0" timeOffset="92717">24867 14341 8191,'7'10'0,"-2"8"5063,-5 0-5063,0 5 2818,0-6-2818,3-7 1719,0-8-1719,10-2 6784,3 6-6784,12 4 0,-3 10 0,-2 4 0,-4-1 0,-5 6 0,6 3 0,-6 3 0,3 4 0,-9-8 0,4 0 0,-5-11 0,5-2 0,1-8 0,-4-2 0,3-1 0,-5-4 0,5 0 0,-2-3 0,7 0 0,1-6 0,1-5 0,18-25 0,-2-6 0,-10 14 0,0-1 0,-6 1 0,-2 0 0,13-26 0,-7 5 0,-2 5 0,3 5 0,-3 8 0,-4 7 0,-4 1 0,-6 9 0,0-3 0,-4-2 0,0 10 0,-3-3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EA3B3-ED8B-3548-9083-AF59EEE7A449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37BA0-D88D-E84A-8C48-0DAA0502432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914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2910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0574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383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0065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7340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27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0727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6A84-B167-6265-275C-40EBF1B1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22E82-B3DE-0185-7AC8-079AA7143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3E9F8-4DF1-83E4-2B28-7EC60BB86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F990B-084B-0476-6B8F-4B6916541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30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4995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31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2123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D63F-3087-6BB7-5E30-CCA881CC4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F2F00-C48C-0073-DAAF-AADA7008C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A739B-CD34-7506-2652-DCB697762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BB926-91F9-BD82-7509-02A8434A0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32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9824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36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9288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37BA0-D88D-E84A-8C48-0DAA05024326}" type="slidenum">
              <a:rPr lang="en-IL" smtClean="0"/>
              <a:t>41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080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CEA3-5AD3-0506-2524-84313A7DB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AA2BE-CD42-E27D-8EEB-A83A09EDF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40F0-2C5E-E049-BABF-7C4897CF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E94B9-0FE6-6413-C33F-63AAE7C1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B5388-C9B0-1C14-6AC8-8232527D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519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F584-2E72-3C55-6836-FD73FC62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2505B-B6D5-7F01-C670-E5BEFB66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B1F96-7F70-973C-66B5-DC1F27B3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5DAE7-050B-6E31-DD39-3DB277A9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A941-87FE-080C-FD6E-20B0EED2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337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53D0-96B6-764F-D642-E8976D24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F827A-3A73-5F3A-B2E8-AB3E2E4F1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5491D-A9EC-B32E-53DF-BEA4BA31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A1E16-0EF3-DD91-9B7C-2AA38772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0650-A147-9F8B-1815-4F202296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430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BFA7-521E-16A1-B2DF-015B4BBB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8A6C-8DF0-6F9B-D839-8133734B6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FBB49-DC78-76A0-D28B-1647C6674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2BBB5-860A-1ED8-EFB0-1978D32E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AEF36-B588-0D55-C160-3433CDFA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7B6B0-4961-7928-0001-221F27A8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006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FA9A-1096-141E-DCEA-4164A311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DB704-F2B1-DE1B-4DC6-F79B2CA4C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26856-AD1C-CCF9-FF69-76ADAD72A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E19E0-74B3-5888-3C3A-A65675861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C3992-B93E-723B-AC8D-BEC0F26C6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A7BBF-45FB-6CBF-2BE7-5FD56EBD8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528469-BD20-12AD-9899-CCA36778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8C1D3-2E3F-CA35-0B9F-B43C8051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8801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7855-0A51-4DF6-1A06-C718DCE2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B002A-2AEE-CE9E-3862-58EFA2D1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69069-32D7-70D6-B343-AB72038E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218D5-4246-277A-7341-25860800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7952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C588DE-3A4F-08E6-30F0-9B897559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A5EA4-A3AA-BA1E-F1A6-00D2CF94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BA4F5-8A76-A8CE-257D-C0DBFACD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339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6D3D-CA7A-55E9-6784-4A7A0035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92BC6-70F7-EFDA-153A-73AA44E33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74CA7-7FD3-EC11-748A-AB6F2F528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3CF03-42CB-AAC2-8C51-792ADB784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285B9-02E2-BF00-AF3E-5BC64536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D2FA1-D95F-3A37-0761-72B2E5A6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603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4723-18EB-4EB2-52C7-C5A99E0B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1CE3FA-C925-45EE-9256-563066DEB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0E5C7-7550-F214-50AA-C81D5B577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AB8DE-8E5A-FEAC-0578-1E2DDCF6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CF1A9-C80E-75B7-932A-A10F4E0A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10C8B-1262-C3CE-D706-119F1F3A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187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2BAB-41AA-17A1-FC07-E222C44F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6BB67-63A6-1A5D-594C-B378702E8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4666-551C-64D5-CD8E-6047DD422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6168A-90BD-6FB7-A900-2F6DBD88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8AB91-957B-2709-AE05-5C626CF7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390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6F15F-81A1-E479-72C6-D7F4BD015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60C95-810A-D242-2361-4597ADE7B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86353-DFEF-CE1D-EEE6-B246C5C25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1C03-4728-6222-78D0-8ADD9991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6B44E-725E-94D7-5CC7-DA041479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067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06E78-A356-7DD2-0150-CE28680B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9AEAD-53D7-CE26-2F00-DB8DFFC1E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86EE9-D5B5-CCE3-21BC-AFC52AAC1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04D98-53BA-1F40-9ADA-57671A5B5547}" type="datetimeFigureOut">
              <a:rPr lang="en-IL" smtClean="0"/>
              <a:t>18/08/2025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AEDD-8A2A-215E-A1E0-D8680C0B3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24F46-92B4-58DF-E73D-37B6E3797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53A42-831B-F84E-B2C6-F0A89A9F14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788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62D9-83F3-12F0-1FBB-08EECBFA5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82EA8-C201-4556-655D-98FB5534D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8147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166FDC-A732-72EC-43C9-956BA8992890}"/>
              </a:ext>
            </a:extLst>
          </p:cNvPr>
          <p:cNvSpPr/>
          <p:nvPr/>
        </p:nvSpPr>
        <p:spPr>
          <a:xfrm>
            <a:off x="2122312" y="715107"/>
            <a:ext cx="1345753" cy="10597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dirty="0"/>
              <a:t>Refinement Algorithm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984064A-F210-5EAF-E0A9-BE2316247F10}"/>
              </a:ext>
            </a:extLst>
          </p:cNvPr>
          <p:cNvSpPr/>
          <p:nvPr/>
        </p:nvSpPr>
        <p:spPr>
          <a:xfrm>
            <a:off x="1469930" y="1140178"/>
            <a:ext cx="652381" cy="2486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D4121-46F7-C3F3-2A8A-FEB5E77DCB2D}"/>
              </a:ext>
            </a:extLst>
          </p:cNvPr>
          <p:cNvSpPr txBox="1"/>
          <p:nvPr/>
        </p:nvSpPr>
        <p:spPr>
          <a:xfrm>
            <a:off x="124178" y="516143"/>
            <a:ext cx="19127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 Dataset D</a:t>
            </a:r>
          </a:p>
          <a:p>
            <a:r>
              <a:rPr lang="en-US" dirty="0"/>
              <a:t>Q</a:t>
            </a:r>
            <a:r>
              <a:rPr lang="en-IL" dirty="0"/>
              <a:t>uery Q </a:t>
            </a:r>
            <a:r>
              <a:rPr lang="en-IL" sz="1200" dirty="0"/>
              <a:t>(aggregation)</a:t>
            </a:r>
          </a:p>
          <a:p>
            <a:r>
              <a:rPr lang="en-IL" dirty="0"/>
              <a:t>Constraints</a:t>
            </a:r>
          </a:p>
          <a:p>
            <a:r>
              <a:rPr lang="en-IL" dirty="0"/>
              <a:t>Epsilon</a:t>
            </a:r>
          </a:p>
          <a:p>
            <a:r>
              <a:rPr lang="en-IL" dirty="0"/>
              <a:t>K</a:t>
            </a:r>
          </a:p>
          <a:p>
            <a:endParaRPr lang="en-IL" dirty="0"/>
          </a:p>
          <a:p>
            <a:endParaRPr lang="en-IL" dirty="0"/>
          </a:p>
          <a:p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50F8A0-3FB8-725E-5D4D-5D60C6B2A377}"/>
              </a:ext>
            </a:extLst>
          </p:cNvPr>
          <p:cNvSpPr/>
          <p:nvPr/>
        </p:nvSpPr>
        <p:spPr>
          <a:xfrm>
            <a:off x="4164320" y="707347"/>
            <a:ext cx="1332085" cy="10597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r>
              <a:rPr lang="en-IL" dirty="0"/>
              <a:t>iews generation using predicates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66FB34F-237A-483A-808E-F641D4DD6CD0}"/>
              </a:ext>
            </a:extLst>
          </p:cNvPr>
          <p:cNvSpPr/>
          <p:nvPr/>
        </p:nvSpPr>
        <p:spPr>
          <a:xfrm>
            <a:off x="3527141" y="1140177"/>
            <a:ext cx="593306" cy="2376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05CAAC-1F6D-345C-3BFB-FC4266C717B7}"/>
              </a:ext>
            </a:extLst>
          </p:cNvPr>
          <p:cNvSpPr txBox="1"/>
          <p:nvPr/>
        </p:nvSpPr>
        <p:spPr>
          <a:xfrm>
            <a:off x="3569233" y="7708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Q’</a:t>
            </a:r>
            <a:endParaRPr lang="en-IL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B13DEA-18DA-7DA3-9408-996C96F0E1EC}"/>
              </a:ext>
            </a:extLst>
          </p:cNvPr>
          <p:cNvGrpSpPr/>
          <p:nvPr/>
        </p:nvGrpSpPr>
        <p:grpSpPr>
          <a:xfrm>
            <a:off x="3127382" y="-507997"/>
            <a:ext cx="8525880" cy="4161133"/>
            <a:chOff x="4091390" y="-1524686"/>
            <a:chExt cx="8525880" cy="4161133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1B1F0ED3-3F95-BC53-FD3D-3254BF69B9B9}"/>
                </a:ext>
              </a:extLst>
            </p:cNvPr>
            <p:cNvSpPr/>
            <p:nvPr/>
          </p:nvSpPr>
          <p:spPr>
            <a:xfrm>
              <a:off x="5555481" y="1140177"/>
              <a:ext cx="1036836" cy="22136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F92594-343D-CFC5-724B-94B0AD7ECEBD}"/>
                </a:ext>
              </a:extLst>
            </p:cNvPr>
            <p:cNvSpPr/>
            <p:nvPr/>
          </p:nvSpPr>
          <p:spPr>
            <a:xfrm>
              <a:off x="6651391" y="707347"/>
              <a:ext cx="1036837" cy="10597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  <a:r>
                <a:rPr lang="en-IL" dirty="0"/>
                <a:t>iews filtering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69346A-F721-F4A6-7D1F-FE0B0FA4660F}"/>
                </a:ext>
              </a:extLst>
            </p:cNvPr>
            <p:cNvSpPr txBox="1"/>
            <p:nvPr/>
          </p:nvSpPr>
          <p:spPr>
            <a:xfrm>
              <a:off x="5745346" y="849216"/>
              <a:ext cx="657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attr1</a:t>
              </a:r>
              <a:endParaRPr lang="en-IL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1B6A83A-9FB8-77B2-F14C-2CB7DD72BF2A}"/>
                </a:ext>
              </a:extLst>
            </p:cNvPr>
            <p:cNvSpPr txBox="1"/>
            <p:nvPr/>
          </p:nvSpPr>
          <p:spPr>
            <a:xfrm>
              <a:off x="4091390" y="1713117"/>
              <a:ext cx="425526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1. The view must not be defined by attr1</a:t>
              </a:r>
              <a:endParaRPr lang="en-IL" dirty="0"/>
            </a:p>
            <a:p>
              <a:r>
                <a:rPr lang="en-US" dirty="0"/>
                <a:t>* 2. |Q(V)| &gt; CONST</a:t>
              </a:r>
            </a:p>
            <a:p>
              <a:r>
                <a:rPr lang="en-US" dirty="0"/>
                <a:t>3. 50%-</a:t>
              </a:r>
              <a:r>
                <a:rPr lang="en-US" dirty="0" err="1"/>
                <a:t>argmin</a:t>
              </a:r>
              <a:r>
                <a:rPr lang="en-US" dirty="0"/>
                <a:t> (</a:t>
              </a:r>
              <a:r>
                <a:rPr lang="en-US" b="1" dirty="0"/>
                <a:t>Noisy </a:t>
              </a:r>
              <a:r>
                <a:rPr lang="en-US" dirty="0" err="1"/>
                <a:t>MI_factor</a:t>
              </a:r>
              <a:r>
                <a:rPr lang="en-US" dirty="0"/>
                <a:t>(V, attr1 ))</a:t>
              </a:r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CD9C922D-6042-E65B-92DD-49EE5C3BC65D}"/>
                </a:ext>
              </a:extLst>
            </p:cNvPr>
            <p:cNvSpPr/>
            <p:nvPr/>
          </p:nvSpPr>
          <p:spPr>
            <a:xfrm>
              <a:off x="7747302" y="1140177"/>
              <a:ext cx="54829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482DD45-DF3E-892B-6482-87ABBCF7B9CA}"/>
                </a:ext>
              </a:extLst>
            </p:cNvPr>
            <p:cNvSpPr/>
            <p:nvPr/>
          </p:nvSpPr>
          <p:spPr>
            <a:xfrm>
              <a:off x="8365955" y="688675"/>
              <a:ext cx="1332085" cy="10597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Choose the best View</a:t>
              </a:r>
              <a:endParaRPr lang="en-IL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7D8FF5E-F0A7-BA7B-A19C-3EF4F0F29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9962" y="-1524686"/>
              <a:ext cx="7077308" cy="1001955"/>
            </a:xfrm>
            <a:prstGeom prst="rect">
              <a:avLst/>
            </a:prstGeom>
          </p:spPr>
        </p:pic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F294F0B-7C1A-BAC5-6EA1-5ABBDBB02066}"/>
              </a:ext>
            </a:extLst>
          </p:cNvPr>
          <p:cNvSpPr/>
          <p:nvPr/>
        </p:nvSpPr>
        <p:spPr>
          <a:xfrm>
            <a:off x="10493138" y="3626297"/>
            <a:ext cx="548291" cy="2232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E44B1C-7623-F905-6707-E2EFCEB7DC6E}"/>
              </a:ext>
            </a:extLst>
          </p:cNvPr>
          <p:cNvSpPr/>
          <p:nvPr/>
        </p:nvSpPr>
        <p:spPr>
          <a:xfrm>
            <a:off x="11097536" y="2689602"/>
            <a:ext cx="1111453" cy="20966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Find the top-K scored attributes and generate noisy histograms </a:t>
            </a:r>
            <a:endParaRPr lang="en-IL" sz="1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71631C-A930-0A42-6478-2DD141567335}"/>
              </a:ext>
            </a:extLst>
          </p:cNvPr>
          <p:cNvGrpSpPr/>
          <p:nvPr/>
        </p:nvGrpSpPr>
        <p:grpSpPr>
          <a:xfrm>
            <a:off x="4619695" y="3869685"/>
            <a:ext cx="3995175" cy="728736"/>
            <a:chOff x="5555481" y="849216"/>
            <a:chExt cx="3995175" cy="728736"/>
          </a:xfrm>
        </p:grpSpPr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71DB1D7B-4170-DE4D-1210-0BF58CABFB93}"/>
                </a:ext>
              </a:extLst>
            </p:cNvPr>
            <p:cNvSpPr/>
            <p:nvPr/>
          </p:nvSpPr>
          <p:spPr>
            <a:xfrm>
              <a:off x="5555481" y="1140177"/>
              <a:ext cx="1036836" cy="22136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9E7FE39-9470-392D-3D53-C56D7CAA359A}"/>
                </a:ext>
              </a:extLst>
            </p:cNvPr>
            <p:cNvSpPr/>
            <p:nvPr/>
          </p:nvSpPr>
          <p:spPr>
            <a:xfrm>
              <a:off x="6782182" y="891451"/>
              <a:ext cx="657104" cy="6541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V</a:t>
              </a:r>
              <a:r>
                <a:rPr lang="en-IL" sz="1100" dirty="0"/>
                <a:t>iews filtering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D33A95-08E2-2C88-EF86-ACED2BFC05A8}"/>
                </a:ext>
              </a:extLst>
            </p:cNvPr>
            <p:cNvSpPr txBox="1"/>
            <p:nvPr/>
          </p:nvSpPr>
          <p:spPr>
            <a:xfrm>
              <a:off x="5745346" y="849216"/>
              <a:ext cx="657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attr2</a:t>
              </a:r>
              <a:endParaRPr lang="en-IL" dirty="0"/>
            </a:p>
          </p:txBody>
        </p:sp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97796B60-3030-68B2-4099-5E3245F59139}"/>
                </a:ext>
              </a:extLst>
            </p:cNvPr>
            <p:cNvSpPr/>
            <p:nvPr/>
          </p:nvSpPr>
          <p:spPr>
            <a:xfrm>
              <a:off x="7747302" y="1140177"/>
              <a:ext cx="54829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9AA6AAE-09D1-F869-9583-73440FDD0A0E}"/>
                </a:ext>
              </a:extLst>
            </p:cNvPr>
            <p:cNvSpPr/>
            <p:nvPr/>
          </p:nvSpPr>
          <p:spPr>
            <a:xfrm>
              <a:off x="8575344" y="923761"/>
              <a:ext cx="975312" cy="6541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Choose the Best View</a:t>
              </a:r>
              <a:endParaRPr lang="en-IL" sz="11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3FEDFCA-2345-F9F3-FA34-943D3175F8A2}"/>
              </a:ext>
            </a:extLst>
          </p:cNvPr>
          <p:cNvGrpSpPr/>
          <p:nvPr/>
        </p:nvGrpSpPr>
        <p:grpSpPr>
          <a:xfrm>
            <a:off x="4619695" y="4644521"/>
            <a:ext cx="3995175" cy="728736"/>
            <a:chOff x="5555481" y="849216"/>
            <a:chExt cx="3995175" cy="728736"/>
          </a:xfrm>
        </p:grpSpPr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C183E725-47FD-23B0-C8E5-F37674D64AB3}"/>
                </a:ext>
              </a:extLst>
            </p:cNvPr>
            <p:cNvSpPr/>
            <p:nvPr/>
          </p:nvSpPr>
          <p:spPr>
            <a:xfrm>
              <a:off x="5555481" y="1140177"/>
              <a:ext cx="1036836" cy="22136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12F3087-BAE0-8F42-34E8-0C67FEDE7CEE}"/>
                </a:ext>
              </a:extLst>
            </p:cNvPr>
            <p:cNvSpPr/>
            <p:nvPr/>
          </p:nvSpPr>
          <p:spPr>
            <a:xfrm>
              <a:off x="6782182" y="891451"/>
              <a:ext cx="657104" cy="6541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V</a:t>
              </a:r>
              <a:r>
                <a:rPr lang="en-IL" sz="1100" dirty="0"/>
                <a:t>iews filtering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A750128-C6E2-2765-5711-5736447959E7}"/>
                </a:ext>
              </a:extLst>
            </p:cNvPr>
            <p:cNvSpPr txBox="1"/>
            <p:nvPr/>
          </p:nvSpPr>
          <p:spPr>
            <a:xfrm>
              <a:off x="5745346" y="849216"/>
              <a:ext cx="729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attr</a:t>
              </a:r>
              <a:r>
                <a:rPr lang="en-US" dirty="0"/>
                <a:t>-n</a:t>
              </a:r>
              <a:endParaRPr lang="en-IL" dirty="0"/>
            </a:p>
          </p:txBody>
        </p:sp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E9020674-213A-11EA-B509-3C6ABA992A16}"/>
                </a:ext>
              </a:extLst>
            </p:cNvPr>
            <p:cNvSpPr/>
            <p:nvPr/>
          </p:nvSpPr>
          <p:spPr>
            <a:xfrm>
              <a:off x="7747302" y="1140177"/>
              <a:ext cx="54829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E4F001-883F-08C0-8133-B12A7A1EFECE}"/>
                </a:ext>
              </a:extLst>
            </p:cNvPr>
            <p:cNvSpPr/>
            <p:nvPr/>
          </p:nvSpPr>
          <p:spPr>
            <a:xfrm>
              <a:off x="8575344" y="923761"/>
              <a:ext cx="975312" cy="6541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Choose the Best View</a:t>
              </a:r>
              <a:endParaRPr lang="en-IL" sz="11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981081F-85EE-3072-2BD0-6D2F131BC2FF}"/>
              </a:ext>
            </a:extLst>
          </p:cNvPr>
          <p:cNvGrpSpPr/>
          <p:nvPr/>
        </p:nvGrpSpPr>
        <p:grpSpPr>
          <a:xfrm>
            <a:off x="2624447" y="5827753"/>
            <a:ext cx="3471552" cy="719494"/>
            <a:chOff x="4992596" y="826148"/>
            <a:chExt cx="3471552" cy="719494"/>
          </a:xfrm>
        </p:grpSpPr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4FD5A790-531D-82FC-BD1E-A06D2DE8654B}"/>
                </a:ext>
              </a:extLst>
            </p:cNvPr>
            <p:cNvSpPr/>
            <p:nvPr/>
          </p:nvSpPr>
          <p:spPr>
            <a:xfrm>
              <a:off x="4992596" y="1140177"/>
              <a:ext cx="159972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A729EB3-3B34-C5E3-44E7-0E5C8A5A743D}"/>
                </a:ext>
              </a:extLst>
            </p:cNvPr>
            <p:cNvSpPr/>
            <p:nvPr/>
          </p:nvSpPr>
          <p:spPr>
            <a:xfrm>
              <a:off x="6782181" y="891451"/>
              <a:ext cx="1681967" cy="6541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noisy histogram</a:t>
              </a:r>
              <a:endParaRPr lang="en-IL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ED2BDF-3676-3870-1904-EABEA451ED35}"/>
                </a:ext>
              </a:extLst>
            </p:cNvPr>
            <p:cNvSpPr txBox="1"/>
            <p:nvPr/>
          </p:nvSpPr>
          <p:spPr>
            <a:xfrm>
              <a:off x="5060995" y="826148"/>
              <a:ext cx="1629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Constraint </a:t>
              </a:r>
              <a:r>
                <a:rPr lang="en-US" dirty="0" err="1"/>
                <a:t>attr</a:t>
              </a:r>
              <a:endParaRPr lang="en-IL" dirty="0"/>
            </a:p>
          </p:txBody>
        </p:sp>
      </p:grpSp>
      <p:sp>
        <p:nvSpPr>
          <p:cNvPr id="53" name="Right Arrow 52">
            <a:extLst>
              <a:ext uri="{FF2B5EF4-FFF2-40B4-BE49-F238E27FC236}">
                <a16:creationId xmlns:a16="http://schemas.microsoft.com/office/drawing/2014/main" id="{AC22C2C9-D44F-2AFD-F7D2-BFAD2C2A4DE1}"/>
              </a:ext>
            </a:extLst>
          </p:cNvPr>
          <p:cNvSpPr/>
          <p:nvPr/>
        </p:nvSpPr>
        <p:spPr>
          <a:xfrm rot="5400000">
            <a:off x="405828" y="3990128"/>
            <a:ext cx="4429540" cy="1810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36D92430-0383-D6B1-2E64-BDFD79D43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918" y="3316692"/>
            <a:ext cx="3715511" cy="33867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EEC28F3-57D6-C001-3FFE-3E6BCAFEF9C8}"/>
              </a:ext>
            </a:extLst>
          </p:cNvPr>
          <p:cNvSpPr txBox="1"/>
          <p:nvPr/>
        </p:nvSpPr>
        <p:spPr>
          <a:xfrm>
            <a:off x="4951652" y="431742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...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3484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9F77-636B-D296-3189-E3252665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F7CBA-A5C2-29CF-A125-D88F38057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" pitchFamily="2" charset="0"/>
              </a:rPr>
              <a:t>Input: </a:t>
            </a:r>
            <a:r>
              <a:rPr lang="en-US" dirty="0" err="1">
                <a:effectLst/>
                <a:latin typeface="Helvetica" pitchFamily="2" charset="0"/>
              </a:rPr>
              <a:t>attr</a:t>
            </a:r>
            <a:r>
              <a:rPr lang="en-US" dirty="0">
                <a:effectLst/>
                <a:latin typeface="Helvetica" pitchFamily="2" charset="0"/>
              </a:rPr>
              <a:t>, predicate space, private dataset, query, constraints, refined query, budget</a:t>
            </a:r>
          </a:p>
          <a:p>
            <a:r>
              <a:rPr lang="en-US" dirty="0">
                <a:effectLst/>
                <a:latin typeface="Helvetica" pitchFamily="2" charset="0"/>
              </a:rPr>
              <a:t>Output: set of histograms for explaining </a:t>
            </a:r>
            <a:r>
              <a:rPr lang="en-US" dirty="0" err="1">
                <a:effectLst/>
                <a:latin typeface="Helvetica" pitchFamily="2" charset="0"/>
              </a:rPr>
              <a:t>attr</a:t>
            </a:r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dirty="0">
                <a:effectLst/>
                <a:latin typeface="Helvetica" pitchFamily="2" charset="0"/>
              </a:rPr>
              <a:t>Algorithm: use the score function of the EM containing mutual (HD - MID)*|Q(V)| to find the best histogram, where V is defined by the predicate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1805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4AF08-14C8-F0F8-48A9-92038512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B842B9-D716-9869-9836-8D8732E21389}"/>
              </a:ext>
            </a:extLst>
          </p:cNvPr>
          <p:cNvSpPr/>
          <p:nvPr/>
        </p:nvSpPr>
        <p:spPr>
          <a:xfrm>
            <a:off x="2122312" y="715107"/>
            <a:ext cx="1345753" cy="10597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dirty="0"/>
              <a:t>Refinement Algorithm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6A08F22-6F13-2210-0E58-79AA9EB4F911}"/>
              </a:ext>
            </a:extLst>
          </p:cNvPr>
          <p:cNvSpPr/>
          <p:nvPr/>
        </p:nvSpPr>
        <p:spPr>
          <a:xfrm>
            <a:off x="1469930" y="1140178"/>
            <a:ext cx="652381" cy="2486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62DDF-DB1E-EF9B-D3C7-957E03D2E722}"/>
              </a:ext>
            </a:extLst>
          </p:cNvPr>
          <p:cNvSpPr txBox="1"/>
          <p:nvPr/>
        </p:nvSpPr>
        <p:spPr>
          <a:xfrm>
            <a:off x="124178" y="516143"/>
            <a:ext cx="19127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 Dataset D</a:t>
            </a:r>
          </a:p>
          <a:p>
            <a:r>
              <a:rPr lang="en-US" dirty="0"/>
              <a:t>Q</a:t>
            </a:r>
            <a:r>
              <a:rPr lang="en-IL" dirty="0"/>
              <a:t>uery Q </a:t>
            </a:r>
            <a:r>
              <a:rPr lang="en-IL" sz="1200" dirty="0"/>
              <a:t>(aggregation)</a:t>
            </a:r>
          </a:p>
          <a:p>
            <a:r>
              <a:rPr lang="en-IL" dirty="0"/>
              <a:t>Constraints</a:t>
            </a:r>
          </a:p>
          <a:p>
            <a:r>
              <a:rPr lang="en-IL" dirty="0"/>
              <a:t>Epsilon</a:t>
            </a:r>
          </a:p>
          <a:p>
            <a:r>
              <a:rPr lang="en-IL" dirty="0"/>
              <a:t>K</a:t>
            </a:r>
          </a:p>
          <a:p>
            <a:endParaRPr lang="en-IL" dirty="0"/>
          </a:p>
          <a:p>
            <a:endParaRPr lang="en-IL" dirty="0"/>
          </a:p>
          <a:p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D76700-787D-0BB5-132D-3EC3E43C51FB}"/>
              </a:ext>
            </a:extLst>
          </p:cNvPr>
          <p:cNvSpPr/>
          <p:nvPr/>
        </p:nvSpPr>
        <p:spPr>
          <a:xfrm>
            <a:off x="4164320" y="707347"/>
            <a:ext cx="1332085" cy="10597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r>
              <a:rPr lang="en-IL" dirty="0"/>
              <a:t>iews generation using predicates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0EFBE1BA-986E-39FA-4076-EAB8C70D6F96}"/>
              </a:ext>
            </a:extLst>
          </p:cNvPr>
          <p:cNvSpPr/>
          <p:nvPr/>
        </p:nvSpPr>
        <p:spPr>
          <a:xfrm>
            <a:off x="3527141" y="1140177"/>
            <a:ext cx="593306" cy="2376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8C0AB7-E16C-CAA1-815C-53EF660C6C4C}"/>
              </a:ext>
            </a:extLst>
          </p:cNvPr>
          <p:cNvSpPr txBox="1"/>
          <p:nvPr/>
        </p:nvSpPr>
        <p:spPr>
          <a:xfrm>
            <a:off x="3569233" y="7708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Q’</a:t>
            </a:r>
            <a:endParaRPr lang="en-IL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7093BD-3466-C595-F295-3EA8E4635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09" y="5854145"/>
            <a:ext cx="5764545" cy="816103"/>
          </a:xfrm>
          <a:prstGeom prst="rect">
            <a:avLst/>
          </a:prstGeom>
        </p:spPr>
      </p:pic>
      <p:sp>
        <p:nvSpPr>
          <p:cNvPr id="25" name="Right Arrow 24">
            <a:extLst>
              <a:ext uri="{FF2B5EF4-FFF2-40B4-BE49-F238E27FC236}">
                <a16:creationId xmlns:a16="http://schemas.microsoft.com/office/drawing/2014/main" id="{D89E4F80-B521-68D7-8659-576E35D95655}"/>
              </a:ext>
            </a:extLst>
          </p:cNvPr>
          <p:cNvSpPr/>
          <p:nvPr/>
        </p:nvSpPr>
        <p:spPr>
          <a:xfrm>
            <a:off x="8102454" y="1084959"/>
            <a:ext cx="548291" cy="2232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4DEE13-7E45-6C4C-93B7-8FE8C2CE8B3A}"/>
              </a:ext>
            </a:extLst>
          </p:cNvPr>
          <p:cNvSpPr/>
          <p:nvPr/>
        </p:nvSpPr>
        <p:spPr>
          <a:xfrm>
            <a:off x="8709819" y="219578"/>
            <a:ext cx="1111453" cy="20966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Find the top-K scored attributes and generate noisy histograms </a:t>
            </a:r>
            <a:endParaRPr lang="en-IL" sz="1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7D0C77-C72E-5464-C86B-A24403FE0860}"/>
              </a:ext>
            </a:extLst>
          </p:cNvPr>
          <p:cNvGrpSpPr/>
          <p:nvPr/>
        </p:nvGrpSpPr>
        <p:grpSpPr>
          <a:xfrm>
            <a:off x="2577247" y="3378176"/>
            <a:ext cx="3471552" cy="719494"/>
            <a:chOff x="4992596" y="826148"/>
            <a:chExt cx="3471552" cy="719494"/>
          </a:xfrm>
        </p:grpSpPr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F51F9A2C-CD04-106E-102D-77806576CC68}"/>
                </a:ext>
              </a:extLst>
            </p:cNvPr>
            <p:cNvSpPr/>
            <p:nvPr/>
          </p:nvSpPr>
          <p:spPr>
            <a:xfrm>
              <a:off x="4992596" y="1140177"/>
              <a:ext cx="159972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6D5E78B-A6D8-6D11-E87D-DCACEF063B61}"/>
                </a:ext>
              </a:extLst>
            </p:cNvPr>
            <p:cNvSpPr/>
            <p:nvPr/>
          </p:nvSpPr>
          <p:spPr>
            <a:xfrm>
              <a:off x="6782181" y="891451"/>
              <a:ext cx="1681967" cy="6541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noisy histogram</a:t>
              </a:r>
              <a:endParaRPr lang="en-IL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FEB784-AAEC-903D-5EF5-A8BE7249D357}"/>
                </a:ext>
              </a:extLst>
            </p:cNvPr>
            <p:cNvSpPr txBox="1"/>
            <p:nvPr/>
          </p:nvSpPr>
          <p:spPr>
            <a:xfrm>
              <a:off x="5060995" y="826148"/>
              <a:ext cx="1629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Constraint </a:t>
              </a:r>
              <a:r>
                <a:rPr lang="en-US" dirty="0" err="1"/>
                <a:t>attr</a:t>
              </a:r>
              <a:endParaRPr lang="en-IL" dirty="0"/>
            </a:p>
          </p:txBody>
        </p:sp>
      </p:grpSp>
      <p:sp>
        <p:nvSpPr>
          <p:cNvPr id="53" name="Right Arrow 52">
            <a:extLst>
              <a:ext uri="{FF2B5EF4-FFF2-40B4-BE49-F238E27FC236}">
                <a16:creationId xmlns:a16="http://schemas.microsoft.com/office/drawing/2014/main" id="{5D7678CD-AF25-4A34-06E7-FB93746BDFBF}"/>
              </a:ext>
            </a:extLst>
          </p:cNvPr>
          <p:cNvSpPr/>
          <p:nvPr/>
        </p:nvSpPr>
        <p:spPr>
          <a:xfrm rot="5400000">
            <a:off x="1585426" y="2810530"/>
            <a:ext cx="1983643" cy="943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CAAD4C8-1C92-35FC-528D-E32B8E6D1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62" y="5274903"/>
            <a:ext cx="6455319" cy="5884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A7FA5B-C862-57FA-C697-F80A8E8D66FA}"/>
              </a:ext>
            </a:extLst>
          </p:cNvPr>
          <p:cNvSpPr/>
          <p:nvPr/>
        </p:nvSpPr>
        <p:spPr>
          <a:xfrm>
            <a:off x="6542701" y="268937"/>
            <a:ext cx="1332085" cy="177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 each </a:t>
            </a:r>
            <a:r>
              <a:rPr lang="en-US" dirty="0" err="1"/>
              <a:t>attr</a:t>
            </a:r>
            <a:r>
              <a:rPr lang="en-US" dirty="0"/>
              <a:t> not in constraint group Choose the Best View</a:t>
            </a:r>
            <a:endParaRPr lang="en-IL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5EE7C80F-AF75-08B3-EDC8-8AD184B70EA6}"/>
              </a:ext>
            </a:extLst>
          </p:cNvPr>
          <p:cNvSpPr/>
          <p:nvPr/>
        </p:nvSpPr>
        <p:spPr>
          <a:xfrm>
            <a:off x="5654515" y="1149085"/>
            <a:ext cx="593306" cy="2376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57FAD-BB63-D19B-1C7A-E4B0D9BF8D19}"/>
              </a:ext>
            </a:extLst>
          </p:cNvPr>
          <p:cNvSpPr txBox="1"/>
          <p:nvPr/>
        </p:nvSpPr>
        <p:spPr>
          <a:xfrm>
            <a:off x="6201199" y="2824467"/>
            <a:ext cx="5115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Helvetica" pitchFamily="2" charset="0"/>
              </a:rPr>
              <a:t>Option 2: (HD / Normalized MID) * |Q(p(D))| / |D|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56BBB-3447-FFF0-BB36-3B7738E3D275}"/>
              </a:ext>
            </a:extLst>
          </p:cNvPr>
          <p:cNvSpPr txBox="1"/>
          <p:nvPr/>
        </p:nvSpPr>
        <p:spPr>
          <a:xfrm>
            <a:off x="6201199" y="2400029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Helvetica" pitchFamily="2" charset="0"/>
              </a:rPr>
              <a:t>Option1: (HD - MID) * |Q(p(D))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CAEEE-B5D1-D931-CF9E-06CB0126E002}"/>
              </a:ext>
            </a:extLst>
          </p:cNvPr>
          <p:cNvSpPr txBox="1"/>
          <p:nvPr/>
        </p:nvSpPr>
        <p:spPr>
          <a:xfrm>
            <a:off x="593124" y="615719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HD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B9682-17A1-2A5A-C40B-A37FEF04086B}"/>
              </a:ext>
            </a:extLst>
          </p:cNvPr>
          <p:cNvSpPr txBox="1"/>
          <p:nvPr/>
        </p:nvSpPr>
        <p:spPr>
          <a:xfrm>
            <a:off x="607551" y="5436634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MID=</a:t>
            </a:r>
          </a:p>
        </p:txBody>
      </p:sp>
    </p:spTree>
    <p:extLst>
      <p:ext uri="{BB962C8B-B14F-4D97-AF65-F5344CB8AC3E}">
        <p14:creationId xmlns:p14="http://schemas.microsoft.com/office/powerpoint/2010/main" val="249452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862F-9FEE-5ADD-4A5C-E5C06469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Open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B304-CBCA-D5BD-E65A-D9FF6B100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  <a:p>
            <a:pPr lvl="1"/>
            <a:r>
              <a:rPr lang="en-US" dirty="0"/>
              <a:t>MI</a:t>
            </a:r>
          </a:p>
          <a:p>
            <a:pPr lvl="1"/>
            <a:r>
              <a:rPr lang="en-US" dirty="0">
                <a:effectLst/>
                <a:latin typeface="Helvetica" pitchFamily="2" charset="0"/>
              </a:rPr>
              <a:t>|Q(V)| / |D|</a:t>
            </a:r>
            <a:endParaRPr lang="en-US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6017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D1F72-E5E2-C2BE-AACC-83BB094A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E3117A-D23D-0BA6-45CC-F28701200FC6}"/>
              </a:ext>
            </a:extLst>
          </p:cNvPr>
          <p:cNvSpPr/>
          <p:nvPr/>
        </p:nvSpPr>
        <p:spPr>
          <a:xfrm>
            <a:off x="2122312" y="715107"/>
            <a:ext cx="1345753" cy="10597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dirty="0"/>
              <a:t>Refinement Algorithm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4D21048-C6C4-FC16-EB87-33F5A2325A24}"/>
              </a:ext>
            </a:extLst>
          </p:cNvPr>
          <p:cNvSpPr/>
          <p:nvPr/>
        </p:nvSpPr>
        <p:spPr>
          <a:xfrm>
            <a:off x="1469930" y="1140178"/>
            <a:ext cx="652381" cy="2486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08405-967C-965A-0E76-35232DB17DEE}"/>
              </a:ext>
            </a:extLst>
          </p:cNvPr>
          <p:cNvSpPr txBox="1"/>
          <p:nvPr/>
        </p:nvSpPr>
        <p:spPr>
          <a:xfrm>
            <a:off x="124178" y="516143"/>
            <a:ext cx="19127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 Dataset D</a:t>
            </a:r>
          </a:p>
          <a:p>
            <a:r>
              <a:rPr lang="en-US" dirty="0"/>
              <a:t>Q</a:t>
            </a:r>
            <a:r>
              <a:rPr lang="en-IL" dirty="0"/>
              <a:t>uery Q </a:t>
            </a:r>
            <a:r>
              <a:rPr lang="en-IL" sz="1200" dirty="0"/>
              <a:t>(aggregation)</a:t>
            </a:r>
          </a:p>
          <a:p>
            <a:r>
              <a:rPr lang="en-IL" dirty="0"/>
              <a:t>Constraints</a:t>
            </a:r>
          </a:p>
          <a:p>
            <a:r>
              <a:rPr lang="en-IL" dirty="0"/>
              <a:t>Epsilon</a:t>
            </a:r>
          </a:p>
          <a:p>
            <a:r>
              <a:rPr lang="en-IL" dirty="0"/>
              <a:t>K</a:t>
            </a:r>
          </a:p>
          <a:p>
            <a:endParaRPr lang="en-IL" dirty="0"/>
          </a:p>
          <a:p>
            <a:endParaRPr lang="en-IL" dirty="0"/>
          </a:p>
          <a:p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AE2080-511E-C95E-5CBD-E8306463C194}"/>
              </a:ext>
            </a:extLst>
          </p:cNvPr>
          <p:cNvSpPr/>
          <p:nvPr/>
        </p:nvSpPr>
        <p:spPr>
          <a:xfrm>
            <a:off x="4164320" y="707347"/>
            <a:ext cx="1332085" cy="10597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r>
              <a:rPr lang="en-IL" dirty="0"/>
              <a:t>iews generation using predicates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5FBD2BB4-1D8A-0968-E362-4CBA7872E341}"/>
              </a:ext>
            </a:extLst>
          </p:cNvPr>
          <p:cNvSpPr/>
          <p:nvPr/>
        </p:nvSpPr>
        <p:spPr>
          <a:xfrm>
            <a:off x="3527141" y="1140177"/>
            <a:ext cx="593306" cy="2376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0E2A7-0C58-8445-32EC-C759A741F262}"/>
              </a:ext>
            </a:extLst>
          </p:cNvPr>
          <p:cNvSpPr txBox="1"/>
          <p:nvPr/>
        </p:nvSpPr>
        <p:spPr>
          <a:xfrm>
            <a:off x="3569233" y="7708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Q’</a:t>
            </a:r>
            <a:endParaRPr lang="en-IL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2906C6-4D47-05B3-D4C8-F73B43EE1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09" y="5854145"/>
            <a:ext cx="5764545" cy="816103"/>
          </a:xfrm>
          <a:prstGeom prst="rect">
            <a:avLst/>
          </a:prstGeom>
        </p:spPr>
      </p:pic>
      <p:sp>
        <p:nvSpPr>
          <p:cNvPr id="25" name="Right Arrow 24">
            <a:extLst>
              <a:ext uri="{FF2B5EF4-FFF2-40B4-BE49-F238E27FC236}">
                <a16:creationId xmlns:a16="http://schemas.microsoft.com/office/drawing/2014/main" id="{C0FA03BF-902F-9498-C18D-026CBAD9D5B6}"/>
              </a:ext>
            </a:extLst>
          </p:cNvPr>
          <p:cNvSpPr/>
          <p:nvPr/>
        </p:nvSpPr>
        <p:spPr>
          <a:xfrm>
            <a:off x="8102454" y="1084959"/>
            <a:ext cx="548291" cy="2232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F42281-7A0E-4CC0-1C11-EBE171E14116}"/>
              </a:ext>
            </a:extLst>
          </p:cNvPr>
          <p:cNvSpPr/>
          <p:nvPr/>
        </p:nvSpPr>
        <p:spPr>
          <a:xfrm>
            <a:off x="8709819" y="219578"/>
            <a:ext cx="1111453" cy="20966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Find the top-K scored attributes and generate noisy histograms </a:t>
            </a:r>
            <a:endParaRPr lang="en-IL" sz="1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53EBCB0-2D1B-2408-CE13-C56D6523B256}"/>
              </a:ext>
            </a:extLst>
          </p:cNvPr>
          <p:cNvGrpSpPr/>
          <p:nvPr/>
        </p:nvGrpSpPr>
        <p:grpSpPr>
          <a:xfrm>
            <a:off x="2577247" y="3378176"/>
            <a:ext cx="3471552" cy="719494"/>
            <a:chOff x="4992596" y="826148"/>
            <a:chExt cx="3471552" cy="719494"/>
          </a:xfrm>
        </p:grpSpPr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537400F4-3FE5-B477-AAB7-2E8B0D4C05FE}"/>
                </a:ext>
              </a:extLst>
            </p:cNvPr>
            <p:cNvSpPr/>
            <p:nvPr/>
          </p:nvSpPr>
          <p:spPr>
            <a:xfrm>
              <a:off x="4992596" y="1140177"/>
              <a:ext cx="159972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96A311D-8E04-16D4-B853-C7F9DAAAA143}"/>
                </a:ext>
              </a:extLst>
            </p:cNvPr>
            <p:cNvSpPr/>
            <p:nvPr/>
          </p:nvSpPr>
          <p:spPr>
            <a:xfrm>
              <a:off x="6782181" y="891451"/>
              <a:ext cx="1681967" cy="65419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Generate noisy histogram</a:t>
              </a:r>
              <a:endParaRPr lang="en-IL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659ED78-A7F4-A7A6-AC96-D6B750B5B33D}"/>
                </a:ext>
              </a:extLst>
            </p:cNvPr>
            <p:cNvSpPr txBox="1"/>
            <p:nvPr/>
          </p:nvSpPr>
          <p:spPr>
            <a:xfrm>
              <a:off x="5060995" y="826148"/>
              <a:ext cx="1629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Constraint </a:t>
              </a:r>
              <a:r>
                <a:rPr lang="en-US" dirty="0" err="1"/>
                <a:t>attr</a:t>
              </a:r>
              <a:endParaRPr lang="en-IL" dirty="0"/>
            </a:p>
          </p:txBody>
        </p:sp>
      </p:grpSp>
      <p:sp>
        <p:nvSpPr>
          <p:cNvPr id="53" name="Right Arrow 52">
            <a:extLst>
              <a:ext uri="{FF2B5EF4-FFF2-40B4-BE49-F238E27FC236}">
                <a16:creationId xmlns:a16="http://schemas.microsoft.com/office/drawing/2014/main" id="{3D90D0B2-1BA3-FD4E-F654-06D30520CBF4}"/>
              </a:ext>
            </a:extLst>
          </p:cNvPr>
          <p:cNvSpPr/>
          <p:nvPr/>
        </p:nvSpPr>
        <p:spPr>
          <a:xfrm rot="5400000">
            <a:off x="1585426" y="2810530"/>
            <a:ext cx="1983643" cy="943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E2B5C56-E7D3-944B-4D10-968387568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562" y="5274903"/>
            <a:ext cx="6455319" cy="5884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F3DF15-96AD-4497-2AF9-D480048194D6}"/>
              </a:ext>
            </a:extLst>
          </p:cNvPr>
          <p:cNvSpPr/>
          <p:nvPr/>
        </p:nvSpPr>
        <p:spPr>
          <a:xfrm>
            <a:off x="6542701" y="268937"/>
            <a:ext cx="1332085" cy="177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 each </a:t>
            </a:r>
            <a:r>
              <a:rPr lang="en-US" dirty="0" err="1"/>
              <a:t>attr</a:t>
            </a:r>
            <a:r>
              <a:rPr lang="en-US" dirty="0"/>
              <a:t> not in constraint group Choose the Best View</a:t>
            </a:r>
            <a:endParaRPr lang="en-IL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DE16B3B-2414-D198-7363-B022939900A4}"/>
              </a:ext>
            </a:extLst>
          </p:cNvPr>
          <p:cNvSpPr/>
          <p:nvPr/>
        </p:nvSpPr>
        <p:spPr>
          <a:xfrm>
            <a:off x="5654515" y="1149085"/>
            <a:ext cx="593306" cy="2376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BDC29-950E-3491-1A20-A09D6076E39A}"/>
              </a:ext>
            </a:extLst>
          </p:cNvPr>
          <p:cNvSpPr txBox="1"/>
          <p:nvPr/>
        </p:nvSpPr>
        <p:spPr>
          <a:xfrm>
            <a:off x="7115425" y="2673063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Helvetica" pitchFamily="2" charset="0"/>
              </a:rPr>
              <a:t>Utility = (HD - MID) * |Q(p(D))| * |Q’(p(D))| ›$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AB335-E770-A335-1129-E9EF1017903D}"/>
              </a:ext>
            </a:extLst>
          </p:cNvPr>
          <p:cNvSpPr txBox="1"/>
          <p:nvPr/>
        </p:nvSpPr>
        <p:spPr>
          <a:xfrm>
            <a:off x="593124" y="615719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HD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DB379-7770-8192-5F59-2579474B5B95}"/>
              </a:ext>
            </a:extLst>
          </p:cNvPr>
          <p:cNvSpPr txBox="1"/>
          <p:nvPr/>
        </p:nvSpPr>
        <p:spPr>
          <a:xfrm>
            <a:off x="607551" y="5436634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MID=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599A4-A25E-043C-5F1A-01CFEDD54066}"/>
              </a:ext>
            </a:extLst>
          </p:cNvPr>
          <p:cNvSpPr txBox="1"/>
          <p:nvPr/>
        </p:nvSpPr>
        <p:spPr>
          <a:xfrm>
            <a:off x="533231" y="4796369"/>
            <a:ext cx="1873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Helvetica" pitchFamily="2" charset="0"/>
              </a:rPr>
              <a:t>View = p(D) = D’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2052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091B-8038-041D-FCF6-5C020E11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699A56-0D09-0CB5-CB94-4ACCA3486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Input: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𝑃𝑟𝑖𝑣𝑎𝑡𝑒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𝐷𝑎𝑡𝑒𝑠𝑒𝑡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𝑂𝑟𝑖𝑔𝑖𝑛𝑎𝑙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𝑉𝑖𝑒𝑤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𝑃𝑟𝑒𝑑𝑖𝑐𝑎𝑡𝑒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L" dirty="0"/>
                  <a:t>,</a:t>
                </a:r>
              </a:p>
              <a:p>
                <a:r>
                  <a:rPr lang="en-IL" dirty="0"/>
                  <a:t>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𝐴𝑡𝑡𝑟𝑖𝑏𝑢𝑡𝑒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699A56-0D09-0CB5-CB94-4ACCA3486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2907" b="-988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08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674E-DF5E-7614-62BD-0F5D276F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Sensitivity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86DB98-7E28-9014-91A8-21FDCD993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0614"/>
                <a:ext cx="10515600" cy="530910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𝑀𝐼𝐷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i="1" kern="100" dirty="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), </m:t>
                    </m:r>
                    <m:sSup>
                      <m:sSup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L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,…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</m:oMath>
                  </m:oMathPara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1800" b="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IL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𝐴𝑡𝑡𝑟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𝐴𝑡𝑡𝑟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𝑝𝑔𝑚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𝑝𝑔𝑚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𝑨𝒕𝒕𝒓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𝒑𝒈𝒎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L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86DB98-7E28-9014-91A8-21FDCD993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0614"/>
                <a:ext cx="10515600" cy="5309102"/>
              </a:xfrm>
              <a:blipFill>
                <a:blip r:embed="rId2"/>
                <a:stretch>
                  <a:fillRect l="-483" t="-7876" b="-245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416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7801E-730D-D8C3-EE53-A3F8F72B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CAD76-A386-7350-CE66-AD8F0394E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37674"/>
                <a:ext cx="10515600" cy="611204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), </m:t>
                    </m:r>
                    <m:sSup>
                      <m:sSup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L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𝐻𝐷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𝐷𝑜𝑚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𝐷𝑜𝑚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</m:e>
                        </m:nary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𝐷𝑜𝑚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×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𝑫𝒐𝒎</m:t>
                          </m:r>
                          <m:d>
                            <m:d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b="1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CAD76-A386-7350-CE66-AD8F0394E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37674"/>
                <a:ext cx="10515600" cy="6112042"/>
              </a:xfrm>
              <a:blipFill>
                <a:blip r:embed="rId2"/>
                <a:stretch>
                  <a:fillRect l="-483" t="-6432" b="-414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77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3607A-536A-E23C-7546-885EEC3F2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6373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IL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Annotations: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r>
                  <a:rPr lang="en-IL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r>
                  <a:rPr lang="en-US" sz="2800" b="0" i="1" dirty="0">
                    <a:latin typeface="Cambria Math" panose="02040503050406030204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endParaRPr lang="en-IL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L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+1</m:t>
                        </m:r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𝑀𝐾</m:t>
                        </m:r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𝑀𝐾</m:t>
                        </m:r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𝐿𝑀𝐾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𝐿𝑀𝐾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𝑀𝐾</m:t>
                        </m:r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𝑀𝐾</m:t>
                        </m:r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𝐿𝑀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𝐿𝐾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𝑀𝐾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</m:d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𝐾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</m:d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𝑀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</m:d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</m:d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≤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+1</m:t>
                        </m:r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L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  <m:r>
                              <a:rPr lang="en-IL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en-IL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≤2+0.5+1=3.5</m:t>
                    </m:r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3607A-536A-E23C-7546-885EEC3F2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6373"/>
                <a:ext cx="10515600" cy="4351338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8613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754731-4466-0BDF-CD2A-81B6D0F9A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IL" sz="2000" dirty="0"/>
              </a:p>
              <a:p>
                <a:endParaRPr lang="en-IL" sz="2000" dirty="0"/>
              </a:p>
              <a:p>
                <a14:m>
                  <m:oMath xmlns:m="http://schemas.openxmlformats.org/officeDocument/2006/math"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), </m:t>
                    </m:r>
                    <m:sSup>
                      <m:sSupPr>
                        <m:ctrlPr>
                          <a:rPr lang="en-IL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L" sz="20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2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IL" sz="2000" dirty="0"/>
                  <a:t>=</a:t>
                </a:r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𝑫𝒐𝒎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𝑨𝒕𝒕𝒓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𝒑𝒈𝒎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754731-4466-0BDF-CD2A-81B6D0F9A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  <a:blipFill>
                <a:blip r:embed="rId2"/>
                <a:stretch>
                  <a:fillRect l="-7117" t="-6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978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8C56-36EC-6744-C16A-80169818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A2F07-676C-B0AE-F1C9-E2845E66E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𝑅𝑎𝑛𝑔𝑒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𝑝𝑔𝑚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dirty="0"/>
                  <a:t>      </a:t>
                </a:r>
                <a:r>
                  <a:rPr lang="en-US" sz="1800" b="0" dirty="0"/>
                  <a:t>(When Q(D) catches everything and Q’(D) nothing )</a:t>
                </a:r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𝑀𝐼𝐷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A2F07-676C-B0AE-F1C9-E2845E66E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746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88AD1-C1E1-2D2A-F31C-91999A8C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A0A0-4D99-D68A-622B-543813EC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Utility Function – 2nd 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6FBD5-37E6-A32A-D3B5-FBB1D1988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Input: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𝑃𝑟𝑖𝑣𝑎𝑡𝑒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𝐷𝑎𝑡𝑒𝑠𝑒𝑡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𝑂𝑟𝑖𝑔𝑖𝑛𝑎𝑙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𝑉𝑖𝑒𝑤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𝑃𝑟𝑒𝑑𝑖𝑐𝑎𝑡𝑒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L" dirty="0"/>
                  <a:t>,</a:t>
                </a:r>
              </a:p>
              <a:p>
                <a:r>
                  <a:rPr lang="en-IL" dirty="0"/>
                  <a:t>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𝐴𝑡𝑡𝑟𝑖𝑏𝑢𝑡𝑒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  <m:r>
                          <a:rPr lang="en-US" b="0" i="1" strike="sngStrike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trike="sngStrike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trike="sngStrike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trike="sngStrike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6FBD5-37E6-A32A-D3B5-FBB1D1988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198" b="-17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550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375E-A6C3-0A35-B4D1-6FD19682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BE3F-2FAD-7E1E-C51F-A608E321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Sensitivity – over D’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116FB-75B3-E3C7-3358-79EA79CB40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0614"/>
                <a:ext cx="10515600" cy="530910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𝑀𝐼𝐷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i="1" kern="100" dirty="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,…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</m:oMath>
                  </m:oMathPara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1800" b="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IL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𝐴𝑡𝑡𝑟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𝐴𝑡𝑡𝑟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𝑝𝑔𝑚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𝑝𝑔𝑚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𝑨𝒕𝒕𝒓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𝒑𝒈𝒎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L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116FB-75B3-E3C7-3358-79EA79CB40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0614"/>
                <a:ext cx="10515600" cy="5309102"/>
              </a:xfrm>
              <a:blipFill>
                <a:blip r:embed="rId2"/>
                <a:stretch>
                  <a:fillRect l="-483" t="-7876" b="-2506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93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76BE-B778-6BD1-AAD3-17124A65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144F4-BFA0-AFCF-58FC-2348C63B8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49866"/>
                <a:ext cx="10515600" cy="611204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𝐻𝐷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𝐷𝑜𝑚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 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𝐷𝑜𝑚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𝑎𝑐𝑡𝑖𝑣𝑒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𝐷𝑜𝑚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𝐷𝑜𝑚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en-US" sz="1800" b="1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144F4-BFA0-AFCF-58FC-2348C63B8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49866"/>
                <a:ext cx="10515600" cy="6112042"/>
              </a:xfrm>
              <a:blipFill>
                <a:blip r:embed="rId2"/>
                <a:stretch>
                  <a:fillRect l="-483" t="-64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689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C7311-8395-B7BE-326B-AD1CC832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53F16-AA6F-6E18-D2D7-F9684EAEB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IL" sz="2000" dirty="0"/>
              </a:p>
              <a:p>
                <a14:m>
                  <m:oMath xmlns:m="http://schemas.openxmlformats.org/officeDocument/2006/math"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</m:e>
                              <m:sup/>
                            </m:sSup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𝐷𝑜𝑚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𝑨𝒕𝒕𝒓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𝒑𝒈𝒎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US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𝑫𝒐𝒎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53F16-AA6F-6E18-D2D7-F9684EAEB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  <a:blipFill>
                <a:blip r:embed="rId2"/>
                <a:stretch>
                  <a:fillRect l="-7117" t="-67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29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F8D3-68D5-A3F5-AC7F-1B3DFD7D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BDF3-2969-87D9-658A-65854413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Range – Assume no joins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5E550-BE36-4BCE-43BD-C37AD8493B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𝑅𝑎𝑛𝑔𝑒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𝑝𝑔𝑚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dirty="0"/>
                  <a:t>    </a:t>
                </a:r>
                <a:r>
                  <a:rPr lang="en-US" sz="1800" b="0" dirty="0"/>
                  <a:t>(When Q(D) catches everything and Q’(D) nothing,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dirty="0"/>
                  <a:t>)</a:t>
                </a:r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𝑀𝐼𝐷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5E550-BE36-4BCE-43BD-C37AD8493B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3034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A7208-B298-3AF7-46D1-3995D790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26EECB-61C0-8793-0411-1B0D4A85D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sz="2400" b="1" i="1" dirty="0">
                    <a:latin typeface="Cambria Math" panose="02040503050406030204" pitchFamily="18" charset="0"/>
                  </a:rPr>
                  <a:t>3rd try -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IL" sz="2000" b="1" dirty="0"/>
              </a:p>
              <a:p>
                <a:endParaRPr lang="en-IL" sz="2000" dirty="0"/>
              </a:p>
              <a:p>
                <a14:m>
                  <m:oMath xmlns:m="http://schemas.openxmlformats.org/officeDocument/2006/math"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2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𝐷𝑜𝑚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𝐴𝑡𝑡𝑟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𝑝𝑔𝑚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26EECB-61C0-8793-0411-1B0D4A85D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  <a:blipFill>
                <a:blip r:embed="rId2"/>
                <a:stretch>
                  <a:fillRect l="-603" t="-178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929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707C-7399-6329-D13E-654657EF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05B0-FAEC-3F30-128E-C745DE31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Range – Assume no joins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1872C-27E5-EE1D-F969-C2014C4AC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𝑅𝑎𝑛𝑔𝑒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𝑝𝑔𝑚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dirty="0"/>
                  <a:t>    </a:t>
                </a:r>
                <a:r>
                  <a:rPr lang="en-US" sz="1800" b="0" dirty="0"/>
                  <a:t>(When Q(D) catches everything and Q’(D) nothing,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dirty="0"/>
                  <a:t>)</a:t>
                </a:r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𝑀𝐼𝐷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1872C-27E5-EE1D-F969-C2014C4AC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97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2748-2129-2B1F-7098-220188B4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11106-5B5C-CF57-972E-E5313B237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𝑀𝐼𝐷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IL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                    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e>
                            </m:d>
                          </m: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             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IL" sz="2000" dirty="0"/>
              </a:p>
              <a:p>
                <a14:m>
                  <m:oMath xmlns:m="http://schemas.openxmlformats.org/officeDocument/2006/math"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2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𝐷𝑜𝑚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𝑨𝒕𝒕𝒓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𝒑𝒈𝒎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US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11106-5B5C-CF57-972E-E5313B237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  <a:blipFill>
                <a:blip r:embed="rId2"/>
                <a:stretch>
                  <a:fillRect l="-603" t="-3370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662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64CC5-2CBA-92D5-5334-E04DFF07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8F1D-99B6-6608-5231-D99C6FDF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10.05 - Utility Function – 4th 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441B1-4676-3D03-D648-68330A9565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Input: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𝑃𝑟𝑖𝑣𝑎𝑡𝑒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𝐷𝑎𝑡𝑒𝑠𝑒𝑡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𝑂𝑟𝑖𝑔𝑖𝑛𝑎𝑙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𝑉𝑖𝑒𝑤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𝑃𝑟𝑒𝑑𝑖𝑐𝑎𝑡𝑒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L" dirty="0"/>
                  <a:t>,</a:t>
                </a:r>
              </a:p>
              <a:p>
                <a:r>
                  <a:rPr lang="en-IL" dirty="0"/>
                  <a:t>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𝐴𝑡𝑡𝑟𝑖𝑏𝑢𝑡𝑒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9441B1-4676-3D03-D648-68330A956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907" b="-1366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902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5303-979B-B722-40A1-A561B572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48FE-B22A-3165-4D96-D8E8878A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Sensitivity – over D’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0C3503-C785-632F-1E24-0B14A4ABA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0614"/>
                <a:ext cx="10515600" cy="530910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𝑀𝐼𝐷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i="1" kern="100" dirty="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𝐷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𝑀𝐼𝐷</m:t>
                        </m:r>
                        <m:d>
                          <m:d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∉(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,…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</m:oMath>
                  </m:oMathPara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1800" b="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IL" sz="1800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𝐴𝑡𝑡𝑟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𝑝𝑔𝑚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𝐴𝑡𝑡𝑟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𝑝𝑔𝑚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𝑝𝑔𝑚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𝑨𝒕𝒕𝒓</m:t>
                              </m:r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𝒑𝒈𝒎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L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0C3503-C785-632F-1E24-0B14A4ABA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0614"/>
                <a:ext cx="10515600" cy="5309102"/>
              </a:xfrm>
              <a:blipFill>
                <a:blip r:embed="rId2"/>
                <a:stretch>
                  <a:fillRect l="-483" t="-7876" b="-2506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875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39EBE-2B50-6CD6-9E42-6C226EFF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B3F127-8520-7EB7-3C80-4B3B9C9A0A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49866"/>
                <a:ext cx="10515600" cy="611204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𝑎𝑐𝑡𝑖𝑣𝑒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𝐻𝐷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𝑎𝑐𝑡𝑖𝑣𝑒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𝐷𝑜𝑚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 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𝑎𝑐𝑡𝑖𝑣𝑒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𝐷𝑜𝑚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𝑎𝑐𝑡𝑖𝑣𝑒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𝐷𝑜𝑚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𝑎𝑐𝑡𝑖𝑣𝑒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𝐷𝑜𝑚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en-US" sz="1800" b="1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B3F127-8520-7EB7-3C80-4B3B9C9A0A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49866"/>
                <a:ext cx="10515600" cy="6112042"/>
              </a:xfrm>
              <a:blipFill>
                <a:blip r:embed="rId2"/>
                <a:stretch>
                  <a:fillRect l="-844" t="-64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938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EF01E-C472-23CE-11D2-9F3F10E6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272D3-44F8-03CC-8B03-78BFCAC35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e>
                            </m:d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𝑀𝐼𝐷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𝑀𝐼𝐷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≤1×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𝑀𝐼𝐷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𝑀𝐼𝐷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𝒂𝒄𝒕𝒊𝒗𝒆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𝑫𝒐𝒎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𝑨𝒕𝒕𝒓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𝑮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𝒑𝒈𝒎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.   (≤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𝑨𝒕𝒕𝒓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𝑮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𝒑𝒈𝒎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4272D3-44F8-03CC-8B03-78BFCAC35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1254B16-ADDB-1286-C076-214F7F03F551}"/>
              </a:ext>
            </a:extLst>
          </p:cNvPr>
          <p:cNvSpPr txBox="1"/>
          <p:nvPr/>
        </p:nvSpPr>
        <p:spPr>
          <a:xfrm>
            <a:off x="1475232" y="5486400"/>
            <a:ext cx="3883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IL" dirty="0"/>
              <a:t>ctive-domain ==  number of buckets</a:t>
            </a:r>
          </a:p>
        </p:txBody>
      </p:sp>
    </p:spTree>
    <p:extLst>
      <p:ext uri="{BB962C8B-B14F-4D97-AF65-F5344CB8AC3E}">
        <p14:creationId xmlns:p14="http://schemas.microsoft.com/office/powerpoint/2010/main" val="190721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DFB3-8798-FB80-DC46-A08AD1D67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4229-106D-78D3-1C06-F66B26D3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Range – Assume no joins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300FB-E6AD-9A17-580D-918E7F836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𝑀𝐼𝐷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𝑝𝑔𝑚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𝐷𝑜𝑚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𝑅𝑎𝑛𝑔𝑒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𝑝𝑔𝑚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dirty="0"/>
                  <a:t>    </a:t>
                </a:r>
                <a:r>
                  <a:rPr lang="en-US" sz="1800" b="0" dirty="0"/>
                  <a:t>(When Q(D) catches everything and Q’(D) nothing,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dirty="0"/>
                  <a:t>)</a:t>
                </a:r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𝑀𝐼𝐷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𝑅𝑎𝑛𝑔𝑒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300FB-E6AD-9A17-580D-918E7F836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87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528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C503D-2792-3B74-D555-5A3D1736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6FDD-4087-1DA9-EFD7-7662517BE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20.05 - Utility Function – 5th 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82F7C6-B8C0-1DDC-EC17-583A3B6B56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Input: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𝑃𝑟𝑖𝑣𝑎𝑡𝑒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𝐷𝑎𝑡𝑒𝑠𝑒𝑡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𝑂𝑟𝑖𝑔𝑖𝑛𝑎𝑙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𝑉𝑖𝑒𝑤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𝑃𝑟𝑒𝑑𝑖𝑐𝑎𝑡𝑒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L" dirty="0"/>
                  <a:t>,</a:t>
                </a:r>
              </a:p>
              <a:p>
                <a:r>
                  <a:rPr lang="en-IL" dirty="0"/>
                  <a:t>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𝐴𝑡𝑡𝑟𝑖𝑏𝑢𝑡𝑒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𝑇𝑉𝐷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𝑏𝑢𝑐𝑘𝑒𝑡𝑠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82F7C6-B8C0-1DDC-EC17-583A3B6B56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488" b="-17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1E8D08-FAB2-3929-5457-BE98AD4B7235}"/>
                  </a:ext>
                </a:extLst>
              </p:cNvPr>
              <p:cNvSpPr txBox="1"/>
              <p:nvPr/>
            </p:nvSpPr>
            <p:spPr>
              <a:xfrm>
                <a:off x="7802880" y="82034"/>
                <a:ext cx="6096000" cy="56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 err="1"/>
                  <a:t>prev</a:t>
                </a:r>
                <a:r>
                  <a:rPr lang="en-US" b="0" dirty="0"/>
                  <a:t>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𝑀𝐼𝐷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1E8D08-FAB2-3929-5457-BE98AD4B7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880" y="82034"/>
                <a:ext cx="6096000" cy="566181"/>
              </a:xfrm>
              <a:prstGeom prst="rect">
                <a:avLst/>
              </a:prstGeom>
              <a:blipFill>
                <a:blip r:embed="rId4"/>
                <a:stretch>
                  <a:fillRect l="-832" b="-222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873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A5400-BFB9-7D13-4D35-2C1EA245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527BB-EF6F-51EE-DB1A-505CF8A37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49866"/>
                <a:ext cx="10515600" cy="611204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𝑏𝑢𝑐𝑘𝑒𝑡𝑠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18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∪{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}</m:t>
                        </m:r>
                      </m:e>
                    </m:d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𝐴</m:t>
                        </m:r>
                      </m:sub>
                    </m:sSub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𝐻𝐷</m:t>
                        </m:r>
                      </m:sub>
                    </m:sSub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𝑏𝑢𝑐𝑘𝑒𝑡𝑠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𝐷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 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𝑏𝑢𝑐𝑘𝑒𝑡𝑠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sub>
                          <m:sup/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d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sz="1800" b="0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𝑏𝑢𝑐𝑘𝑒𝑡𝑠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𝑏𝑢𝑐𝑘𝑒𝑡𝑠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′}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𝑄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en-US" sz="18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en-US" sz="18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𝐷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en-US" sz="18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′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𝑉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𝑄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en-US" sz="18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en-US" sz="18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𝐷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en-US" sz="1800" b="0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′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𝑉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𝐷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𝑄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𝐷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𝑉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𝐻</m:t>
                                                  </m:r>
                                                </m:e>
                                                <m:sub>
                                                  <m:sSup>
                                                    <m:sSup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𝑄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1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US" sz="1800" b="0" i="1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𝐷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𝑉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nary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nary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𝐷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1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1800" b="1" i="1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527BB-EF6F-51EE-DB1A-505CF8A37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49866"/>
                <a:ext cx="10515600" cy="6112042"/>
              </a:xfrm>
              <a:blipFill>
                <a:blip r:embed="rId3"/>
                <a:stretch>
                  <a:fillRect l="-483" t="-6432" b="-3153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732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57D2-0686-9DCD-D928-A9D95FCE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F4C50-7A30-803F-06A9-714E4AD4F2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sz="2000" b="0" i="1" dirty="0">
                    <a:latin typeface="Cambria Math" panose="02040503050406030204" pitchFamily="18" charset="0"/>
                  </a:rPr>
                  <a:t>Sensitivity (Assume no joins)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𝑇𝑉𝐷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p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𝑛𝑒𝑖𝑔h𝑏𝑜𝑟𝑠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IL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L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</m:d>
                  </m:oMath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  <m:sSub>
                      <m:sSubPr>
                        <m:ctrlPr>
                          <a:rPr lang="en-IL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e>
                            </m:d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𝑇𝑉𝐷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𝑇𝑉𝐷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𝑇𝑉𝐷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𝑇𝑉𝐷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𝑇𝑉𝐷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≤2×2×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=2×2×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F4C50-7A30-803F-06A9-714E4AD4F2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9960"/>
                <a:ext cx="10515600" cy="5682081"/>
              </a:xfrm>
              <a:blipFill>
                <a:blip r:embed="rId2"/>
                <a:stretch>
                  <a:fillRect l="-362" t="-133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044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6E50-4E4C-9360-9A9D-453CF27B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2048E-8C9C-8CFC-CCF9-12CA2B93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Range – Assume no joins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29250-CD0E-48A7-BD17-20929E1DA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𝑇𝑉𝐷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𝑏𝑢𝑐𝑘𝑒𝑡𝑠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IL" dirty="0"/>
              </a:p>
              <a:p>
                <a:endParaRPr lang="en-IL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𝑇𝑉𝐷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dirty="0"/>
                  <a:t>  </a:t>
                </a:r>
                <a:r>
                  <a:rPr lang="en-US" sz="1800" b="0" dirty="0"/>
                  <a:t>(When Q(D) catches everything and Q’(D) nothing,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dirty="0"/>
                  <a:t>)</a:t>
                </a:r>
                <a:endParaRPr lang="en-US" b="0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𝑇𝑉𝐷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𝑅𝑎𝑛𝑔𝑒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29250-CD0E-48A7-BD17-20929E1DA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b="-5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468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5AD3-9902-6793-A213-90744774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E7D45-B420-0545-CF8B-CCD83DE41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8640" y="1292352"/>
                <a:ext cx="11375136" cy="536448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Input: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𝑃𝑟𝑖𝑣𝑎𝑡𝑒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𝐷𝑎𝑡𝑒𝑠𝑒𝑡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𝑂𝑟𝑖𝑔𝑖𝑛𝑎𝑙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𝑄𝑢𝑒𝑟𝑦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𝑉𝑖𝑒𝑤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𝑃𝑟𝑒𝑑𝑖𝑐𝑎𝑡𝑒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𝑑𝑒𝑓𝑖𝑛𝑒𝑑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L" dirty="0"/>
                  <a:t>,</a:t>
                </a:r>
              </a:p>
              <a:p>
                <a:r>
                  <a:rPr lang="en-IL" dirty="0"/>
                  <a:t>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𝐴𝑡𝑡𝑟𝑖𝑏𝑢𝑡𝑒</m:t>
                    </m:r>
                  </m:oMath>
                </a14:m>
                <a:endParaRPr lang="en-IL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𝒊𝒏𝒕𝒆𝒓𝒆𝒔𝒕𝒊𝒏𝒈𝒏𝒆𝒔𝒔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𝑏𝑢𝑐𝑘𝑒𝑡𝑠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|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|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𝒓𝒆𝒑𝒓𝒆𝒔𝒆𝒏𝒕𝒂𝒕𝒊𝒗𝒆𝒏𝒆𝒔𝒔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𝑏𝑢𝑐𝑘𝑒𝑡𝑠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|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|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𝑪𝒐𝒗𝒆𝒓𝒂𝒈𝒆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𝑆𝑖𝑚𝑖𝑙𝑎𝑟𝑖𝑡𝑦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𝐼𝑛𝑡𝑒𝑟𝑒𝑠𝑡𝑖𝑛𝑔𝑛𝑒𝑠𝑠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𝑀𝑒𝑎𝑛𝑖𝑛𝑔𝑓𝑢𝑙𝑛𝑒𝑠𝑠</m:t>
                    </m:r>
                  </m:oMath>
                </a14:m>
                <a:endParaRPr lang="en-IL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𝑆𝑖𝑚𝑖𝑙𝑎𝑟𝑖𝑡𝑦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𝐼𝑛𝑡𝑒𝑟𝑒𝑠𝑡𝑖𝑛𝑔𝑛𝑒𝑠𝑠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  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𝑀𝑒𝑎𝑛𝑖𝑛𝑔𝑓𝑢𝑙𝑛𝑒𝑠𝑠</m:t>
                    </m:r>
                  </m:oMath>
                </a14:m>
                <a:endParaRPr lang="en-IL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endParaRPr lang="en-US" b="0" dirty="0"/>
              </a:p>
              <a:p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E7D45-B420-0545-CF8B-CCD83DE41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640" y="1292352"/>
                <a:ext cx="11375136" cy="5364480"/>
              </a:xfrm>
              <a:blipFill>
                <a:blip r:embed="rId3"/>
                <a:stretch>
                  <a:fillRect l="-670" t="-2358" b="-14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F8126E-F060-EF22-8ACA-429A48E6E1C1}"/>
                  </a:ext>
                </a:extLst>
              </p:cNvPr>
              <p:cNvSpPr txBox="1"/>
              <p:nvPr/>
            </p:nvSpPr>
            <p:spPr>
              <a:xfrm>
                <a:off x="658368" y="486976"/>
                <a:ext cx="5071872" cy="768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𝐻𝐷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𝑇𝑉𝐷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L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F8126E-F060-EF22-8ACA-429A48E6E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486976"/>
                <a:ext cx="5071872" cy="768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546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AA8E-D27F-BD4C-74CE-F45EB481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Experiments Design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35EAF4-9F18-3896-CFA1-8F27288247A4}"/>
              </a:ext>
            </a:extLst>
          </p:cNvPr>
          <p:cNvSpPr/>
          <p:nvPr/>
        </p:nvSpPr>
        <p:spPr>
          <a:xfrm>
            <a:off x="83129" y="1690688"/>
            <a:ext cx="2375065" cy="49832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Experiment: </a:t>
            </a:r>
          </a:p>
          <a:p>
            <a:pPr algn="ctr"/>
            <a:r>
              <a:rPr lang="en-IL" dirty="0"/>
              <a:t>(-&gt;BaseExperiment)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Date + Time</a:t>
            </a:r>
          </a:p>
          <a:p>
            <a:pPr marL="285750" indent="-285750">
              <a:buFontTx/>
              <a:buChar char="-"/>
            </a:pPr>
            <a:r>
              <a:rPr lang="en-IL" dirty="0"/>
              <a:t>Description</a:t>
            </a:r>
          </a:p>
          <a:p>
            <a:pPr marL="285750" indent="-285750">
              <a:buFontTx/>
              <a:buChar char="-"/>
            </a:pPr>
            <a:r>
              <a:rPr lang="en-IL" dirty="0"/>
              <a:t>Dataset</a:t>
            </a:r>
          </a:p>
          <a:p>
            <a:pPr marL="285750" indent="-285750">
              <a:buFontTx/>
              <a:buChar char="-"/>
            </a:pPr>
            <a:r>
              <a:rPr lang="en-IL" dirty="0"/>
              <a:t>Query</a:t>
            </a:r>
          </a:p>
          <a:p>
            <a:pPr marL="285750" indent="-285750">
              <a:buFontTx/>
              <a:buChar char="-"/>
            </a:pPr>
            <a:r>
              <a:rPr lang="en-IL" dirty="0"/>
              <a:t>Constraints</a:t>
            </a:r>
          </a:p>
          <a:p>
            <a:pPr marL="285750" indent="-285750">
              <a:buFontTx/>
              <a:buChar char="-"/>
            </a:pPr>
            <a:r>
              <a:rPr lang="en-IL" dirty="0"/>
              <a:t>Refinement Algorithm=None</a:t>
            </a:r>
          </a:p>
          <a:p>
            <a:pPr marL="285750" indent="-285750">
              <a:buFontTx/>
              <a:buChar char="-"/>
            </a:pPr>
            <a:r>
              <a:rPr lang="en-IL" dirty="0"/>
              <a:t>K</a:t>
            </a:r>
          </a:p>
          <a:p>
            <a:pPr marL="285750" indent="-285750">
              <a:buFontTx/>
              <a:buChar char="-"/>
            </a:pPr>
            <a:r>
              <a:rPr lang="en-IL" dirty="0"/>
              <a:t>Epsilon</a:t>
            </a:r>
          </a:p>
          <a:p>
            <a:endParaRPr lang="en-IL" dirty="0"/>
          </a:p>
          <a:p>
            <a:r>
              <a:rPr lang="en-IL" dirty="0"/>
              <a:t>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Experiemnt</a:t>
            </a:r>
            <a:r>
              <a:rPr lang="en-US" dirty="0"/>
              <a:t>(conf/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Run(</a:t>
            </a:r>
            <a:r>
              <a:rPr lang="en-US" dirty="0" err="1"/>
              <a:t>output_plot</a:t>
            </a:r>
            <a:r>
              <a:rPr lang="en-US" dirty="0"/>
              <a:t>, </a:t>
            </a:r>
            <a:r>
              <a:rPr lang="en-US" dirty="0" err="1"/>
              <a:t>output_debug</a:t>
            </a:r>
            <a:r>
              <a:rPr lang="en-US" dirty="0"/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4E54D6-F52B-9F47-70E6-32C62B493E53}"/>
              </a:ext>
            </a:extLst>
          </p:cNvPr>
          <p:cNvSpPr/>
          <p:nvPr/>
        </p:nvSpPr>
        <p:spPr>
          <a:xfrm>
            <a:off x="2524501" y="1690688"/>
            <a:ext cx="2375065" cy="1515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Condition: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Attribute </a:t>
            </a:r>
          </a:p>
          <a:p>
            <a:pPr marL="285750" indent="-285750">
              <a:buFontTx/>
              <a:buChar char="-"/>
            </a:pPr>
            <a:r>
              <a:rPr lang="en-IL" dirty="0"/>
              <a:t>Operator</a:t>
            </a:r>
          </a:p>
          <a:p>
            <a:pPr marL="285750" indent="-285750">
              <a:buFontTx/>
              <a:buChar char="-"/>
            </a:pPr>
            <a:r>
              <a:rPr lang="en-IL" dirty="0"/>
              <a:t>Values: list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4D492D-AA5F-CEDB-97ED-4D70A811355C}"/>
              </a:ext>
            </a:extLst>
          </p:cNvPr>
          <p:cNvSpPr/>
          <p:nvPr/>
        </p:nvSpPr>
        <p:spPr>
          <a:xfrm>
            <a:off x="2524500" y="3319802"/>
            <a:ext cx="2375065" cy="862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Conditions: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Condition[]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E3EC9D-CE9B-058B-B45B-EFC03086F967}"/>
              </a:ext>
            </a:extLst>
          </p:cNvPr>
          <p:cNvSpPr/>
          <p:nvPr/>
        </p:nvSpPr>
        <p:spPr>
          <a:xfrm>
            <a:off x="2524500" y="4295773"/>
            <a:ext cx="2375065" cy="1515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Constraint: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Demo…Group </a:t>
            </a:r>
          </a:p>
          <a:p>
            <a:pPr marL="285750" indent="-285750">
              <a:buFontTx/>
              <a:buChar char="-"/>
            </a:pPr>
            <a:r>
              <a:rPr lang="en-IL" dirty="0"/>
              <a:t>Operator: Enum</a:t>
            </a:r>
          </a:p>
          <a:p>
            <a:pPr marL="285750" indent="-285750">
              <a:buFontTx/>
              <a:buChar char="-"/>
            </a:pPr>
            <a:r>
              <a:rPr lang="en-IL" dirty="0"/>
              <a:t>Value: int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E1C912D-4B8C-5A3F-2CFF-970BE75BFD25}"/>
              </a:ext>
            </a:extLst>
          </p:cNvPr>
          <p:cNvSpPr/>
          <p:nvPr/>
        </p:nvSpPr>
        <p:spPr>
          <a:xfrm>
            <a:off x="2524499" y="5924887"/>
            <a:ext cx="2375065" cy="862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Constraints: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Constraint[]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DDCE5F-2C70-A0CB-14D6-8CC479FA4508}"/>
              </a:ext>
            </a:extLst>
          </p:cNvPr>
          <p:cNvSpPr/>
          <p:nvPr/>
        </p:nvSpPr>
        <p:spPr>
          <a:xfrm>
            <a:off x="4968842" y="1698373"/>
            <a:ext cx="2375065" cy="3562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Query: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US" dirty="0"/>
              <a:t>Dataset</a:t>
            </a:r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Conditions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L</a:t>
            </a:r>
            <a:r>
              <a:rPr lang="en-IL" dirty="0"/>
              <a:t>abel</a:t>
            </a:r>
          </a:p>
          <a:p>
            <a:endParaRPr lang="en-IL" dirty="0"/>
          </a:p>
          <a:p>
            <a:r>
              <a:rPr lang="en-IL" dirty="0"/>
              <a:t>Medotds: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Query(Conf/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Where(Cond)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-&gt; DF</a:t>
            </a:r>
            <a:endParaRPr lang="en-IL" dirty="0"/>
          </a:p>
          <a:p>
            <a:pPr marL="285750" indent="-285750">
              <a:buFontTx/>
              <a:buChar char="-"/>
            </a:pPr>
            <a:endParaRPr lang="en-IL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8A3AAF-72FC-2860-A800-07E68BFA40A6}"/>
              </a:ext>
            </a:extLst>
          </p:cNvPr>
          <p:cNvSpPr/>
          <p:nvPr/>
        </p:nvSpPr>
        <p:spPr>
          <a:xfrm>
            <a:off x="7436933" y="1647802"/>
            <a:ext cx="2375065" cy="3562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Dataset: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US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dirty="0"/>
              <a:t>Path</a:t>
            </a:r>
          </a:p>
          <a:p>
            <a:pPr marL="285750" indent="-285750">
              <a:buFontTx/>
              <a:buChar char="-"/>
            </a:pPr>
            <a:r>
              <a:rPr lang="en-US" dirty="0"/>
              <a:t>Attribute[]</a:t>
            </a:r>
            <a:endParaRPr lang="en-IL" dirty="0"/>
          </a:p>
          <a:p>
            <a:endParaRPr lang="en-IL" dirty="0"/>
          </a:p>
          <a:p>
            <a:r>
              <a:rPr lang="en-IL" dirty="0"/>
              <a:t>Medotds: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Query(Conf/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</a:t>
            </a:r>
            <a:endParaRPr lang="en-IL" dirty="0"/>
          </a:p>
          <a:p>
            <a:pPr marL="285750" indent="-285750">
              <a:buFontTx/>
              <a:buChar char="-"/>
            </a:pPr>
            <a:endParaRPr lang="en-IL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2571868-00F2-F247-33CB-705F3093BF03}"/>
              </a:ext>
            </a:extLst>
          </p:cNvPr>
          <p:cNvSpPr/>
          <p:nvPr/>
        </p:nvSpPr>
        <p:spPr>
          <a:xfrm>
            <a:off x="4968842" y="5493633"/>
            <a:ext cx="2375065" cy="1293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Attribute:</a:t>
            </a:r>
          </a:p>
          <a:p>
            <a:pPr marL="285750" indent="-285750">
              <a:buFontTx/>
              <a:buChar char="-"/>
            </a:pPr>
            <a:r>
              <a:rPr lang="en-US" dirty="0"/>
              <a:t>N</a:t>
            </a:r>
            <a:r>
              <a:rPr lang="en-IL" dirty="0"/>
              <a:t>ame : str</a:t>
            </a:r>
          </a:p>
          <a:p>
            <a:pPr marL="285750" indent="-285750">
              <a:buFontTx/>
              <a:buChar char="-"/>
            </a:pPr>
            <a:r>
              <a:rPr lang="en-IL" dirty="0"/>
              <a:t>AttrType : Enum</a:t>
            </a:r>
          </a:p>
          <a:p>
            <a:pPr marL="285750" indent="-285750">
              <a:buFontTx/>
              <a:buChar char="-"/>
            </a:pPr>
            <a:r>
              <a:rPr lang="en-IL" dirty="0"/>
              <a:t>isSensitive: Bool</a:t>
            </a:r>
          </a:p>
          <a:p>
            <a:pPr marL="285750" indent="-285750">
              <a:buFontTx/>
              <a:buChar char="-"/>
            </a:pPr>
            <a:r>
              <a:rPr lang="en-US" dirty="0"/>
              <a:t>R</a:t>
            </a:r>
            <a:r>
              <a:rPr lang="en-IL" dirty="0"/>
              <a:t>ange : iterator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937D9DE-283F-5159-AB64-B93E82707197}"/>
              </a:ext>
            </a:extLst>
          </p:cNvPr>
          <p:cNvSpPr/>
          <p:nvPr/>
        </p:nvSpPr>
        <p:spPr>
          <a:xfrm>
            <a:off x="7436933" y="5380170"/>
            <a:ext cx="2375065" cy="431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AttrType: Enum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4170C63-5222-60DE-3FB0-A961186B8F9B}"/>
              </a:ext>
            </a:extLst>
          </p:cNvPr>
          <p:cNvSpPr/>
          <p:nvPr/>
        </p:nvSpPr>
        <p:spPr>
          <a:xfrm>
            <a:off x="7436933" y="5924886"/>
            <a:ext cx="2375065" cy="431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Operator: Enum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339660-7B84-2997-E3F2-FFDE1C7EDD2F}"/>
              </a:ext>
            </a:extLst>
          </p:cNvPr>
          <p:cNvSpPr/>
          <p:nvPr/>
        </p:nvSpPr>
        <p:spPr>
          <a:xfrm>
            <a:off x="9854555" y="1688245"/>
            <a:ext cx="2375065" cy="1515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DemographicGroup: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Attribute</a:t>
            </a:r>
          </a:p>
          <a:p>
            <a:pPr marL="285750" indent="-285750">
              <a:buFontTx/>
              <a:buChar char="-"/>
            </a:pPr>
            <a:r>
              <a:rPr lang="en-IL" dirty="0"/>
              <a:t>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82F310-09FA-6538-692A-EA524A12DA07}"/>
              </a:ext>
            </a:extLst>
          </p:cNvPr>
          <p:cNvSpPr txBox="1"/>
          <p:nvPr/>
        </p:nvSpPr>
        <p:spPr>
          <a:xfrm>
            <a:off x="1909922" y="1647802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base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A83CF7-5786-D1D0-BBF5-AB23D25D112D}"/>
              </a:ext>
            </a:extLst>
          </p:cNvPr>
          <p:cNvSpPr txBox="1"/>
          <p:nvPr/>
        </p:nvSpPr>
        <p:spPr>
          <a:xfrm>
            <a:off x="4323405" y="4253012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56AB56-8648-E74B-3820-9B626C4A6410}"/>
              </a:ext>
            </a:extLst>
          </p:cNvPr>
          <p:cNvSpPr txBox="1"/>
          <p:nvPr/>
        </p:nvSpPr>
        <p:spPr>
          <a:xfrm>
            <a:off x="6718441" y="1647802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D40D78-C718-3219-B2E6-3320A279C110}"/>
              </a:ext>
            </a:extLst>
          </p:cNvPr>
          <p:cNvSpPr txBox="1"/>
          <p:nvPr/>
        </p:nvSpPr>
        <p:spPr>
          <a:xfrm>
            <a:off x="9228099" y="1643167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base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7E41A1B-4A11-797D-3BF5-4825618508CC}"/>
              </a:ext>
            </a:extLst>
          </p:cNvPr>
          <p:cNvSpPr/>
          <p:nvPr/>
        </p:nvSpPr>
        <p:spPr>
          <a:xfrm>
            <a:off x="9846051" y="4638661"/>
            <a:ext cx="2375065" cy="1515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BaseObject:</a:t>
            </a:r>
          </a:p>
          <a:p>
            <a:r>
              <a:rPr lang="en-IL" dirty="0"/>
              <a:t>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dirty="0"/>
              <a:t>Validate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dirty="0"/>
              <a:t>Save_conf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dirty="0"/>
              <a:t>Load_conf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DB7E4D-307D-101A-8611-A3979D8B5A91}"/>
              </a:ext>
            </a:extLst>
          </p:cNvPr>
          <p:cNvSpPr txBox="1"/>
          <p:nvPr/>
        </p:nvSpPr>
        <p:spPr>
          <a:xfrm>
            <a:off x="4274100" y="1649949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base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DFC5C0-3554-7B0F-FDC8-591D446E1845}"/>
              </a:ext>
            </a:extLst>
          </p:cNvPr>
          <p:cNvSpPr txBox="1"/>
          <p:nvPr/>
        </p:nvSpPr>
        <p:spPr>
          <a:xfrm>
            <a:off x="11663247" y="1635083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base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3ECCB4-55D9-10D5-7619-B1EB0F8AD716}"/>
              </a:ext>
            </a:extLst>
          </p:cNvPr>
          <p:cNvSpPr txBox="1"/>
          <p:nvPr/>
        </p:nvSpPr>
        <p:spPr>
          <a:xfrm>
            <a:off x="6747927" y="5444915"/>
            <a:ext cx="67197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1290367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BC6E-7C3C-DA1A-7D11-CD708FBB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4B87-C93F-7089-872C-2FC0BC257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Experiments Design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6900E0-FCEA-3832-692B-F52CA0A7D343}"/>
              </a:ext>
            </a:extLst>
          </p:cNvPr>
          <p:cNvSpPr/>
          <p:nvPr/>
        </p:nvSpPr>
        <p:spPr>
          <a:xfrm>
            <a:off x="83129" y="1690688"/>
            <a:ext cx="2375065" cy="49832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Exponential</a:t>
            </a:r>
          </a:p>
          <a:p>
            <a:pPr algn="ctr"/>
            <a:r>
              <a:rPr lang="en-IL" dirty="0"/>
              <a:t>Mechanism: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Date + Time</a:t>
            </a:r>
          </a:p>
          <a:p>
            <a:pPr marL="285750" indent="-285750">
              <a:buFontTx/>
              <a:buChar char="-"/>
            </a:pPr>
            <a:r>
              <a:rPr lang="en-IL" dirty="0"/>
              <a:t>Dataset</a:t>
            </a:r>
          </a:p>
          <a:p>
            <a:pPr marL="285750" indent="-285750">
              <a:buFontTx/>
              <a:buChar char="-"/>
            </a:pPr>
            <a:r>
              <a:rPr lang="en-IL" dirty="0"/>
              <a:t>Query</a:t>
            </a:r>
          </a:p>
          <a:p>
            <a:pPr marL="285750" indent="-285750">
              <a:buFontTx/>
              <a:buChar char="-"/>
            </a:pPr>
            <a:r>
              <a:rPr lang="en-IL" dirty="0"/>
              <a:t>Constraints</a:t>
            </a:r>
          </a:p>
          <a:p>
            <a:pPr marL="285750" indent="-285750">
              <a:buFontTx/>
              <a:buChar char="-"/>
            </a:pPr>
            <a:r>
              <a:rPr lang="en-IL" dirty="0"/>
              <a:t>Refinement Algorithm=None</a:t>
            </a:r>
          </a:p>
          <a:p>
            <a:pPr marL="285750" indent="-285750">
              <a:buFontTx/>
              <a:buChar char="-"/>
            </a:pPr>
            <a:r>
              <a:rPr lang="en-IL" dirty="0"/>
              <a:t>K</a:t>
            </a:r>
          </a:p>
          <a:p>
            <a:pPr marL="285750" indent="-285750">
              <a:buFontTx/>
              <a:buChar char="-"/>
            </a:pPr>
            <a:r>
              <a:rPr lang="en-IL" dirty="0"/>
              <a:t>Epsilon</a:t>
            </a:r>
          </a:p>
          <a:p>
            <a:endParaRPr lang="en-IL" dirty="0"/>
          </a:p>
          <a:p>
            <a:r>
              <a:rPr lang="en-IL" dirty="0"/>
              <a:t>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Experiemnt</a:t>
            </a:r>
            <a:r>
              <a:rPr lang="en-US" dirty="0"/>
              <a:t>(conf/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Run(</a:t>
            </a:r>
            <a:r>
              <a:rPr lang="en-US" dirty="0" err="1"/>
              <a:t>output_plot</a:t>
            </a:r>
            <a:r>
              <a:rPr lang="en-US" dirty="0"/>
              <a:t>, </a:t>
            </a:r>
            <a:r>
              <a:rPr lang="en-US" dirty="0" err="1"/>
              <a:t>output_debug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Save_conf</a:t>
            </a:r>
            <a:endParaRPr lang="en-IL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501EC2-746A-A45E-1E91-DCCAC8DF9C2E}"/>
              </a:ext>
            </a:extLst>
          </p:cNvPr>
          <p:cNvSpPr/>
          <p:nvPr/>
        </p:nvSpPr>
        <p:spPr>
          <a:xfrm>
            <a:off x="2524501" y="1690688"/>
            <a:ext cx="2375065" cy="1515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Condition: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Attribute </a:t>
            </a:r>
          </a:p>
          <a:p>
            <a:pPr marL="285750" indent="-285750">
              <a:buFontTx/>
              <a:buChar char="-"/>
            </a:pPr>
            <a:r>
              <a:rPr lang="en-IL" dirty="0"/>
              <a:t>Operator</a:t>
            </a:r>
          </a:p>
          <a:p>
            <a:pPr marL="285750" indent="-285750">
              <a:buFontTx/>
              <a:buChar char="-"/>
            </a:pPr>
            <a:r>
              <a:rPr lang="en-IL" dirty="0"/>
              <a:t>Values: list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FD5596-74A2-329F-BDE0-AA6E0D73D5DC}"/>
              </a:ext>
            </a:extLst>
          </p:cNvPr>
          <p:cNvSpPr/>
          <p:nvPr/>
        </p:nvSpPr>
        <p:spPr>
          <a:xfrm>
            <a:off x="2524500" y="3319802"/>
            <a:ext cx="2375065" cy="862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Conditions: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Condition[]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62061B-8356-B033-D2B5-4849867DC076}"/>
              </a:ext>
            </a:extLst>
          </p:cNvPr>
          <p:cNvSpPr/>
          <p:nvPr/>
        </p:nvSpPr>
        <p:spPr>
          <a:xfrm>
            <a:off x="2524500" y="4295773"/>
            <a:ext cx="2375065" cy="1515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Constraint: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Demo…Group </a:t>
            </a:r>
          </a:p>
          <a:p>
            <a:pPr marL="285750" indent="-285750">
              <a:buFontTx/>
              <a:buChar char="-"/>
            </a:pPr>
            <a:r>
              <a:rPr lang="en-IL" dirty="0"/>
              <a:t>Operator: Enum</a:t>
            </a:r>
          </a:p>
          <a:p>
            <a:pPr marL="285750" indent="-285750">
              <a:buFontTx/>
              <a:buChar char="-"/>
            </a:pPr>
            <a:r>
              <a:rPr lang="en-IL" dirty="0"/>
              <a:t>Value: int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5A98D03-4B3C-7449-66FB-648015AAF31D}"/>
              </a:ext>
            </a:extLst>
          </p:cNvPr>
          <p:cNvSpPr/>
          <p:nvPr/>
        </p:nvSpPr>
        <p:spPr>
          <a:xfrm>
            <a:off x="2524499" y="5924887"/>
            <a:ext cx="2375065" cy="862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Constraints: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Constraint[]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7E5004-023E-6CE0-3364-A25DF36297BF}"/>
              </a:ext>
            </a:extLst>
          </p:cNvPr>
          <p:cNvSpPr/>
          <p:nvPr/>
        </p:nvSpPr>
        <p:spPr>
          <a:xfrm>
            <a:off x="4968842" y="1698373"/>
            <a:ext cx="2375065" cy="3562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Query: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US" dirty="0"/>
              <a:t>Dataset</a:t>
            </a:r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Conditions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L</a:t>
            </a:r>
            <a:r>
              <a:rPr lang="en-IL" dirty="0"/>
              <a:t>abel</a:t>
            </a:r>
          </a:p>
          <a:p>
            <a:endParaRPr lang="en-IL" dirty="0"/>
          </a:p>
          <a:p>
            <a:r>
              <a:rPr lang="en-IL" dirty="0"/>
              <a:t>Medotds: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Query(Conf/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Where(Cond)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-&gt; DF</a:t>
            </a:r>
            <a:endParaRPr lang="en-IL" dirty="0"/>
          </a:p>
          <a:p>
            <a:pPr marL="285750" indent="-285750">
              <a:buFontTx/>
              <a:buChar char="-"/>
            </a:pPr>
            <a:endParaRPr lang="en-IL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8ABFE8-100C-A034-1B47-BF6225A5CF21}"/>
              </a:ext>
            </a:extLst>
          </p:cNvPr>
          <p:cNvSpPr/>
          <p:nvPr/>
        </p:nvSpPr>
        <p:spPr>
          <a:xfrm>
            <a:off x="7436933" y="1647802"/>
            <a:ext cx="2375065" cy="3562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Dataset: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US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dirty="0"/>
              <a:t>Path</a:t>
            </a:r>
          </a:p>
          <a:p>
            <a:pPr marL="285750" indent="-285750">
              <a:buFontTx/>
              <a:buChar char="-"/>
            </a:pPr>
            <a:r>
              <a:rPr lang="en-US" dirty="0"/>
              <a:t>Attribute[]</a:t>
            </a:r>
            <a:endParaRPr lang="en-IL" dirty="0"/>
          </a:p>
          <a:p>
            <a:endParaRPr lang="en-IL" dirty="0"/>
          </a:p>
          <a:p>
            <a:r>
              <a:rPr lang="en-IL" dirty="0"/>
              <a:t>Medotds: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Query(Conf/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</a:t>
            </a:r>
            <a:endParaRPr lang="en-IL" dirty="0"/>
          </a:p>
          <a:p>
            <a:pPr marL="285750" indent="-285750">
              <a:buFontTx/>
              <a:buChar char="-"/>
            </a:pPr>
            <a:endParaRPr lang="en-IL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5DE3F8-F7F1-819B-5753-B26CA1696C4D}"/>
              </a:ext>
            </a:extLst>
          </p:cNvPr>
          <p:cNvSpPr/>
          <p:nvPr/>
        </p:nvSpPr>
        <p:spPr>
          <a:xfrm>
            <a:off x="4968842" y="5493633"/>
            <a:ext cx="2375065" cy="12937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Attribute:</a:t>
            </a:r>
          </a:p>
          <a:p>
            <a:pPr marL="285750" indent="-285750">
              <a:buFontTx/>
              <a:buChar char="-"/>
            </a:pPr>
            <a:r>
              <a:rPr lang="en-US" dirty="0"/>
              <a:t>N</a:t>
            </a:r>
            <a:r>
              <a:rPr lang="en-IL" dirty="0"/>
              <a:t>ame : str</a:t>
            </a:r>
          </a:p>
          <a:p>
            <a:pPr marL="285750" indent="-285750">
              <a:buFontTx/>
              <a:buChar char="-"/>
            </a:pPr>
            <a:r>
              <a:rPr lang="en-IL" dirty="0"/>
              <a:t>AttrType : Enum</a:t>
            </a:r>
          </a:p>
          <a:p>
            <a:pPr marL="285750" indent="-285750">
              <a:buFontTx/>
              <a:buChar char="-"/>
            </a:pPr>
            <a:r>
              <a:rPr lang="en-IL" dirty="0"/>
              <a:t>isSensitive: Bool</a:t>
            </a:r>
          </a:p>
          <a:p>
            <a:pPr marL="285750" indent="-285750">
              <a:buFontTx/>
              <a:buChar char="-"/>
            </a:pPr>
            <a:r>
              <a:rPr lang="en-US" dirty="0"/>
              <a:t>R</a:t>
            </a:r>
            <a:r>
              <a:rPr lang="en-IL" dirty="0"/>
              <a:t>ange : iterator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96209AF-935D-3126-DBBD-06086D551529}"/>
              </a:ext>
            </a:extLst>
          </p:cNvPr>
          <p:cNvSpPr/>
          <p:nvPr/>
        </p:nvSpPr>
        <p:spPr>
          <a:xfrm>
            <a:off x="7436933" y="5380170"/>
            <a:ext cx="2375065" cy="431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AttrType: Enum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3101397-2EA3-B8F4-2E39-BB188A68C4F2}"/>
              </a:ext>
            </a:extLst>
          </p:cNvPr>
          <p:cNvSpPr/>
          <p:nvPr/>
        </p:nvSpPr>
        <p:spPr>
          <a:xfrm>
            <a:off x="7436933" y="5924886"/>
            <a:ext cx="2375065" cy="431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Operator: Enum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960CE8-8DDA-E001-A862-05395B703A58}"/>
              </a:ext>
            </a:extLst>
          </p:cNvPr>
          <p:cNvSpPr/>
          <p:nvPr/>
        </p:nvSpPr>
        <p:spPr>
          <a:xfrm>
            <a:off x="9854555" y="1688245"/>
            <a:ext cx="2375065" cy="1515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DemographicGroup:</a:t>
            </a:r>
          </a:p>
          <a:p>
            <a:pPr algn="ctr"/>
            <a:endParaRPr lang="en-IL" dirty="0"/>
          </a:p>
          <a:p>
            <a:pPr marL="285750" indent="-285750">
              <a:buFontTx/>
              <a:buChar char="-"/>
            </a:pPr>
            <a:r>
              <a:rPr lang="en-IL" dirty="0"/>
              <a:t>Attribute</a:t>
            </a:r>
          </a:p>
          <a:p>
            <a:pPr marL="285750" indent="-285750">
              <a:buFontTx/>
              <a:buChar char="-"/>
            </a:pPr>
            <a:r>
              <a:rPr lang="en-IL" dirty="0"/>
              <a:t>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82524D-24C0-1F2E-EBD7-CFA7E6F9F97F}"/>
              </a:ext>
            </a:extLst>
          </p:cNvPr>
          <p:cNvSpPr txBox="1"/>
          <p:nvPr/>
        </p:nvSpPr>
        <p:spPr>
          <a:xfrm>
            <a:off x="1916263" y="1328515"/>
            <a:ext cx="1230401" cy="923330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IL" dirty="0"/>
              <a:t>alidate</a:t>
            </a:r>
          </a:p>
          <a:p>
            <a:r>
              <a:rPr lang="en-US" dirty="0"/>
              <a:t>S</a:t>
            </a:r>
            <a:r>
              <a:rPr lang="en-IL" dirty="0"/>
              <a:t>ave_conf</a:t>
            </a:r>
          </a:p>
          <a:p>
            <a:r>
              <a:rPr lang="en-US" dirty="0"/>
              <a:t>L</a:t>
            </a:r>
            <a:r>
              <a:rPr lang="en-IL" dirty="0"/>
              <a:t>oad_conf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75B87-43FD-9397-4458-BD6B7B929F35}"/>
              </a:ext>
            </a:extLst>
          </p:cNvPr>
          <p:cNvSpPr txBox="1"/>
          <p:nvPr/>
        </p:nvSpPr>
        <p:spPr>
          <a:xfrm>
            <a:off x="4551831" y="1605514"/>
            <a:ext cx="972574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validate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1DDE70-3C60-BAE4-1530-0F0DA3BED42C}"/>
              </a:ext>
            </a:extLst>
          </p:cNvPr>
          <p:cNvSpPr txBox="1"/>
          <p:nvPr/>
        </p:nvSpPr>
        <p:spPr>
          <a:xfrm>
            <a:off x="6980241" y="1591196"/>
            <a:ext cx="972574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validate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A5EA05-DD8F-791D-B94A-71786D4E2450}"/>
              </a:ext>
            </a:extLst>
          </p:cNvPr>
          <p:cNvSpPr txBox="1"/>
          <p:nvPr/>
        </p:nvSpPr>
        <p:spPr>
          <a:xfrm>
            <a:off x="9418737" y="1574783"/>
            <a:ext cx="972574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L" dirty="0"/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1944462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53B6-D7AC-7CEF-5EC5-5C4DEAA31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BB558691-99E6-EBCD-260E-8B1B1FD7E0FD}"/>
              </a:ext>
            </a:extLst>
          </p:cNvPr>
          <p:cNvGrpSpPr/>
          <p:nvPr/>
        </p:nvGrpSpPr>
        <p:grpSpPr>
          <a:xfrm>
            <a:off x="124178" y="129189"/>
            <a:ext cx="12352772" cy="3066609"/>
            <a:chOff x="124178" y="129189"/>
            <a:chExt cx="12352772" cy="30666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A33568-F765-97C9-507B-BA089CC21B7E}"/>
                </a:ext>
              </a:extLst>
            </p:cNvPr>
            <p:cNvSpPr/>
            <p:nvPr/>
          </p:nvSpPr>
          <p:spPr>
            <a:xfrm>
              <a:off x="2122312" y="715107"/>
              <a:ext cx="1345753" cy="10597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Refinement Algorithm</a:t>
              </a: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1581EBD-1B43-A861-8D15-5F67E9291BD0}"/>
                </a:ext>
              </a:extLst>
            </p:cNvPr>
            <p:cNvSpPr/>
            <p:nvPr/>
          </p:nvSpPr>
          <p:spPr>
            <a:xfrm>
              <a:off x="1469930" y="1140178"/>
              <a:ext cx="652381" cy="24863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10AC9E2-FEBE-C76F-51C1-1A8B31861820}"/>
                    </a:ext>
                  </a:extLst>
                </p:cNvPr>
                <p:cNvSpPr txBox="1"/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Private Dataset D</a:t>
                  </a:r>
                </a:p>
                <a:p>
                  <a:r>
                    <a:rPr lang="en-US" dirty="0"/>
                    <a:t>Q</a:t>
                  </a:r>
                  <a:r>
                    <a:rPr lang="en-IL" dirty="0"/>
                    <a:t>uery Q </a:t>
                  </a:r>
                  <a:r>
                    <a:rPr lang="en-IL" sz="1200" dirty="0"/>
                    <a:t>(aggregation)</a:t>
                  </a:r>
                </a:p>
                <a:p>
                  <a:r>
                    <a:rPr lang="en-IL" dirty="0"/>
                    <a:t>Constraints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IL" dirty="0"/>
                </a:p>
                <a:p>
                  <a:r>
                    <a:rPr lang="en-IL" dirty="0"/>
                    <a:t>K</a:t>
                  </a:r>
                </a:p>
                <a:p>
                  <a:r>
                    <a:rPr lang="en-IL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rPr>
                    <a:t>X%</a:t>
                  </a:r>
                </a:p>
                <a:p>
                  <a:endParaRPr lang="en-IL" dirty="0"/>
                </a:p>
                <a:p>
                  <a:endParaRPr lang="en-IL" dirty="0"/>
                </a:p>
                <a:p>
                  <a:endParaRPr lang="en-IL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10AC9E2-FEBE-C76F-51C1-1A8B31861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blipFill>
                  <a:blip r:embed="rId2"/>
                  <a:stretch>
                    <a:fillRect l="-2632" t="-976" r="-131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E2FF8F-84BF-D3A8-1C0E-318F6F0CBDD0}"/>
                </a:ext>
              </a:extLst>
            </p:cNvPr>
            <p:cNvSpPr/>
            <p:nvPr/>
          </p:nvSpPr>
          <p:spPr>
            <a:xfrm>
              <a:off x="4162539" y="633708"/>
              <a:ext cx="1332085" cy="10597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  <a:r>
                <a:rPr lang="en-IL" dirty="0"/>
                <a:t>iews generation using predicates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FBEE297C-C00D-0B38-42BC-08FA24816CE3}"/>
                </a:ext>
              </a:extLst>
            </p:cNvPr>
            <p:cNvSpPr/>
            <p:nvPr/>
          </p:nvSpPr>
          <p:spPr>
            <a:xfrm>
              <a:off x="3527141" y="1140177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2DE17E-7DE6-070C-3520-9CA84DD26CA7}"/>
                </a:ext>
              </a:extLst>
            </p:cNvPr>
            <p:cNvSpPr txBox="1"/>
            <p:nvPr/>
          </p:nvSpPr>
          <p:spPr>
            <a:xfrm>
              <a:off x="3569233" y="77084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Q’</a:t>
              </a:r>
              <a:endParaRPr lang="en-IL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F6FB1E-6779-76AE-F9A3-2B2652292964}"/>
                </a:ext>
              </a:extLst>
            </p:cNvPr>
            <p:cNvSpPr/>
            <p:nvPr/>
          </p:nvSpPr>
          <p:spPr>
            <a:xfrm>
              <a:off x="11365497" y="129189"/>
              <a:ext cx="1111453" cy="20966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Find the top-K scored attributes and generate noisy histograms </a:t>
              </a:r>
              <a:endParaRPr lang="en-IL" sz="1400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A966A7F-3FF9-C9DD-6579-8725AED34A16}"/>
                </a:ext>
              </a:extLst>
            </p:cNvPr>
            <p:cNvGrpSpPr/>
            <p:nvPr/>
          </p:nvGrpSpPr>
          <p:grpSpPr>
            <a:xfrm>
              <a:off x="2577247" y="2476304"/>
              <a:ext cx="3471552" cy="719494"/>
              <a:chOff x="4992596" y="826148"/>
              <a:chExt cx="3471552" cy="719494"/>
            </a:xfrm>
          </p:grpSpPr>
          <p:sp>
            <p:nvSpPr>
              <p:cNvPr id="46" name="Right Arrow 45">
                <a:extLst>
                  <a:ext uri="{FF2B5EF4-FFF2-40B4-BE49-F238E27FC236}">
                    <a16:creationId xmlns:a16="http://schemas.microsoft.com/office/drawing/2014/main" id="{9D467378-53BD-0F16-CAF7-7E0937F98F4E}"/>
                  </a:ext>
                </a:extLst>
              </p:cNvPr>
              <p:cNvSpPr/>
              <p:nvPr/>
            </p:nvSpPr>
            <p:spPr>
              <a:xfrm>
                <a:off x="4992596" y="1140177"/>
                <a:ext cx="1599721" cy="22325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7B425F5-CF3C-E82A-F4A2-3397BDED2AC4}"/>
                  </a:ext>
                </a:extLst>
              </p:cNvPr>
              <p:cNvSpPr/>
              <p:nvPr/>
            </p:nvSpPr>
            <p:spPr>
              <a:xfrm>
                <a:off x="6782181" y="891451"/>
                <a:ext cx="1681967" cy="65419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Generate noisy histogram</a:t>
                </a:r>
                <a:endParaRPr lang="en-IL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3EFA3E-5C80-BFB3-6EED-7051555C7C65}"/>
                  </a:ext>
                </a:extLst>
              </p:cNvPr>
              <p:cNvSpPr txBox="1"/>
              <p:nvPr/>
            </p:nvSpPr>
            <p:spPr>
              <a:xfrm>
                <a:off x="5060995" y="826148"/>
                <a:ext cx="1629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Constraint </a:t>
                </a:r>
                <a:r>
                  <a:rPr lang="en-US" dirty="0" err="1"/>
                  <a:t>attr</a:t>
                </a:r>
                <a:endParaRPr lang="en-IL" dirty="0"/>
              </a:p>
            </p:txBody>
          </p:sp>
        </p:grpSp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B490D9B1-314C-B431-6BB1-CC425F45A355}"/>
                </a:ext>
              </a:extLst>
            </p:cNvPr>
            <p:cNvSpPr/>
            <p:nvPr/>
          </p:nvSpPr>
          <p:spPr>
            <a:xfrm rot="5400000">
              <a:off x="2102254" y="2293703"/>
              <a:ext cx="971186" cy="11559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83C9B00-F37F-1604-C3E2-6E4348430729}"/>
                </a:ext>
              </a:extLst>
            </p:cNvPr>
            <p:cNvSpPr/>
            <p:nvPr/>
          </p:nvSpPr>
          <p:spPr>
            <a:xfrm>
              <a:off x="6422187" y="261085"/>
              <a:ext cx="1452600" cy="230832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Exponential Mechanism:</a:t>
              </a:r>
            </a:p>
            <a:p>
              <a:pPr algn="ctr"/>
              <a:r>
                <a:rPr lang="en-US" dirty="0"/>
                <a:t>Choose the top-</a:t>
              </a: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X% </a:t>
              </a:r>
              <a:r>
                <a:rPr lang="en-US" dirty="0">
                  <a:solidFill>
                    <a:schemeClr val="tx1"/>
                  </a:solidFill>
                </a:rPr>
                <a:t>v</a:t>
              </a:r>
              <a:r>
                <a:rPr lang="en-US" dirty="0"/>
                <a:t>iews using the usefulness filter</a:t>
              </a:r>
              <a:endParaRPr lang="en-IL" dirty="0"/>
            </a:p>
          </p:txBody>
        </p:sp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A74CA7BA-7D23-000F-6B45-00D765DE3D1A}"/>
                </a:ext>
              </a:extLst>
            </p:cNvPr>
            <p:cNvSpPr/>
            <p:nvPr/>
          </p:nvSpPr>
          <p:spPr>
            <a:xfrm>
              <a:off x="8322553" y="497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B83079-D57B-08F4-8E8E-89686D2B199A}"/>
                </a:ext>
              </a:extLst>
            </p:cNvPr>
            <p:cNvSpPr txBox="1"/>
            <p:nvPr/>
          </p:nvSpPr>
          <p:spPr>
            <a:xfrm>
              <a:off x="8348540" y="17101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effectLst/>
                  <a:latin typeface="Helvetica" pitchFamily="2" charset="0"/>
                </a:rPr>
                <a:t>…</a:t>
              </a:r>
              <a:endParaRPr lang="en-IL" dirty="0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A6AA3377-631E-3146-1EFB-4CBD0AA602FC}"/>
                </a:ext>
              </a:extLst>
            </p:cNvPr>
            <p:cNvSpPr/>
            <p:nvPr/>
          </p:nvSpPr>
          <p:spPr>
            <a:xfrm>
              <a:off x="8322553" y="941752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2A35223B-1A7D-8473-7B2E-0F4AAAC66C14}"/>
                </a:ext>
              </a:extLst>
            </p:cNvPr>
            <p:cNvSpPr/>
            <p:nvPr/>
          </p:nvSpPr>
          <p:spPr>
            <a:xfrm>
              <a:off x="8322553" y="1385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D1797E8-7185-BEDF-AD16-03EE08B5288C}"/>
                </a:ext>
              </a:extLst>
            </p:cNvPr>
            <p:cNvSpPr/>
            <p:nvPr/>
          </p:nvSpPr>
          <p:spPr>
            <a:xfrm>
              <a:off x="8322553" y="2126510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E5FA35-9661-39B4-D1FA-A6B8C456C5F6}"/>
                    </a:ext>
                  </a:extLst>
                </p:cNvPr>
                <p:cNvSpPr txBox="1"/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𝐴𝑡𝑡𝑟𝑠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E5FA35-9661-39B4-D1FA-A6B8C456C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AE6D09FA-59C6-08F8-A9D9-0191BDCB0FB2}"/>
                </a:ext>
              </a:extLst>
            </p:cNvPr>
            <p:cNvSpPr/>
            <p:nvPr/>
          </p:nvSpPr>
          <p:spPr>
            <a:xfrm>
              <a:off x="5724073" y="1139330"/>
              <a:ext cx="54829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IL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27A21D-3C8F-A1BC-97BE-21A260520793}"/>
                </a:ext>
              </a:extLst>
            </p:cNvPr>
            <p:cNvSpPr/>
            <p:nvPr/>
          </p:nvSpPr>
          <p:spPr>
            <a:xfrm>
              <a:off x="9226486" y="251330"/>
              <a:ext cx="1249761" cy="1776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Exponential Mechanism:</a:t>
              </a:r>
            </a:p>
            <a:p>
              <a:pPr algn="ctr"/>
              <a:r>
                <a:rPr lang="en-US" sz="1400" dirty="0"/>
                <a:t>Choose the best view using HD</a:t>
              </a:r>
              <a:endParaRPr lang="en-IL" sz="14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42D5E0B1-8342-5374-5EF9-9E2E1CB869DF}"/>
                </a:ext>
              </a:extLst>
            </p:cNvPr>
            <p:cNvSpPr/>
            <p:nvPr/>
          </p:nvSpPr>
          <p:spPr>
            <a:xfrm>
              <a:off x="10624219" y="1060568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C1A01A92-2375-DF6A-2E0F-577C7013B4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7138310"/>
                  </p:ext>
                </p:extLst>
              </p:nvPr>
            </p:nvGraphicFramePr>
            <p:xfrm>
              <a:off x="159368" y="3799989"/>
              <a:ext cx="11873264" cy="29288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3268">
                      <a:extLst>
                        <a:ext uri="{9D8B030D-6E8A-4147-A177-3AD203B41FA5}">
                          <a16:colId xmlns:a16="http://schemas.microsoft.com/office/drawing/2014/main" val="423590024"/>
                        </a:ext>
                      </a:extLst>
                    </a:gridCol>
                    <a:gridCol w="526093">
                      <a:extLst>
                        <a:ext uri="{9D8B030D-6E8A-4147-A177-3AD203B41FA5}">
                          <a16:colId xmlns:a16="http://schemas.microsoft.com/office/drawing/2014/main" val="183656186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968133467"/>
                        </a:ext>
                      </a:extLst>
                    </a:gridCol>
                    <a:gridCol w="5317108">
                      <a:extLst>
                        <a:ext uri="{9D8B030D-6E8A-4147-A177-3AD203B41FA5}">
                          <a16:colId xmlns:a16="http://schemas.microsoft.com/office/drawing/2014/main" val="57001393"/>
                        </a:ext>
                      </a:extLst>
                    </a:gridCol>
                    <a:gridCol w="488515">
                      <a:extLst>
                        <a:ext uri="{9D8B030D-6E8A-4147-A177-3AD203B41FA5}">
                          <a16:colId xmlns:a16="http://schemas.microsoft.com/office/drawing/2014/main" val="1308217637"/>
                        </a:ext>
                      </a:extLst>
                    </a:gridCol>
                  </a:tblGrid>
                  <a:tr h="413714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GS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GS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813935"/>
                      </a:ext>
                    </a:extLst>
                  </a:tr>
                  <a:tr h="4137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/>
                                  <m:t>𝑪𝒐𝒗𝒆𝒓𝒂𝒈𝒆</m:t>
                                </m:r>
                                <m:r>
                                  <a:rPr lang="en-US" b="0" smtClean="0"/>
                                  <m:t>=</m:t>
                                </m:r>
                                <m:f>
                                  <m:fPr>
                                    <m:ctrlPr>
                                      <a:rPr lang="en-US" b="0" smtClean="0"/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/>
                                        </m:ctrlPr>
                                      </m:dPr>
                                      <m:e>
                                        <m:r>
                                          <a:rPr lang="en-US"/>
                                          <m:t>𝑄</m:t>
                                        </m:r>
                                        <m:d>
                                          <m:dPr>
                                            <m:ctrlPr>
                                              <a:rPr lang="en-US"/>
                                            </m:ctrlPr>
                                          </m:dPr>
                                          <m:e>
                                            <m:r>
                                              <a:rPr lang="en-US"/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/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d>
                                    <m:r>
                                      <a:rPr lang="en-US"/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smtClean="0"/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0" smtClean="0"/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smtClean="0"/>
                                              <m:t>𝑄</m:t>
                                            </m:r>
                                          </m:e>
                                          <m:sup>
                                            <m:r>
                                              <a:rPr lang="en-US" b="0" smtClean="0"/>
                                              <m:t>′</m:t>
                                            </m:r>
                                          </m:sup>
                                        </m:sSup>
                                        <m:d>
                                          <m:dPr>
                                            <m:ctrlPr>
                                              <a:rPr lang="en-US" b="0" smtClean="0"/>
                                            </m:ctrlPr>
                                          </m:dPr>
                                          <m:e>
                                            <m:r>
                                              <a:rPr lang="en-US" b="0" smtClean="0"/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b="0" smtClean="0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smtClean="0"/>
                                                  <m:t>𝐷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smtClean="0"/>
                                      <m:t>|</m:t>
                                    </m:r>
                                    <m:r>
                                      <a:rPr lang="en-US" b="0" smtClean="0"/>
                                      <m:t>𝐷</m:t>
                                    </m:r>
                                    <m:r>
                                      <a:rPr lang="en-US" b="0" smtClean="0"/>
                                      <m:t>|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𝑎𝑐𝑡𝑖𝑣𝑒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𝑑𝑜𝑚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]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𝑄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𝐷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sSup>
                                                  <m:sSup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𝑄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′</m:t>
                                                    </m:r>
                                                  </m:sup>
                                                </m:sSup>
                                                <m:d>
                                                  <m:d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𝐷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</m:d>
                                      </m:den>
                                    </m:f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3530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b="1" smtClean="0"/>
                                  <m:t>𝒓𝒆𝒑𝒓𝒆𝒔𝒆𝒏𝒕𝒂𝒕𝒊𝒗𝒆𝒏𝒆𝒔𝒔</m:t>
                                </m:r>
                                <m:r>
                                  <a:rPr lang="en-US" b="0" smtClean="0"/>
                                  <m:t>=</m:t>
                                </m:r>
                                <m:r>
                                  <a:rPr lang="en-US" b="0" smtClean="0"/>
                                  <m:t>𝑇𝑉𝐷</m:t>
                                </m:r>
                                <m:d>
                                  <m:dPr>
                                    <m:ctrlPr>
                                      <a:rPr lang="en-US" b="0" smtClean="0"/>
                                    </m:ctrlPr>
                                  </m:dPr>
                                  <m:e>
                                    <m:r>
                                      <a:rPr lang="en-US" b="0" smtClean="0"/>
                                      <m:t>𝐷</m:t>
                                    </m:r>
                                    <m:r>
                                      <a:rPr lang="en-US" b="0" smtClean="0"/>
                                      <m:t>,</m:t>
                                    </m:r>
                                    <m:r>
                                      <a:rPr lang="en-US" b="0" smtClean="0"/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b="0" smtClean="0"/>
                                        </m:ctrlPr>
                                      </m:dPr>
                                      <m:e>
                                        <m:r>
                                          <a:rPr lang="en-US" b="0" smtClean="0"/>
                                          <m:t>𝐷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IL" dirty="0"/>
                        </a:p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r>
                            <a:rPr lang="en-US" dirty="0"/>
                            <a:t>U</a:t>
                          </a:r>
                          <a:r>
                            <a:rPr lang="en-IL" dirty="0"/>
                            <a:t>tility = HD + diversity-score(A)</a:t>
                          </a:r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05648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smtClean="0">
                                  <a:solidFill>
                                    <a:schemeClr val="accent6"/>
                                  </a:solidFill>
                                </a:rPr>
                                <m:t>𝒖𝒔𝒆𝒇𝒖𝒍𝒏𝒆𝒔𝒔</m:t>
                              </m:r>
                              <m:r>
                                <a:rPr lang="en-US" b="0" smtClean="0"/>
                                <m:t>=</m:t>
                              </m:r>
                            </m:oMath>
                          </a14:m>
                          <a:r>
                            <a:rPr lang="en-US" b="1" dirty="0"/>
                            <a:t> </a:t>
                          </a:r>
                          <a:r>
                            <a:rPr lang="en-US" b="1" i="1" dirty="0">
                              <a:latin typeface="+mj-lt"/>
                            </a:rPr>
                            <a:t>R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kern="1200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𝒆</m:t>
                              </m:r>
                              <m:r>
                                <a:rPr lang="en-US" sz="1800" b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𝒑𝒓𝒆𝒔𝒆𝒏𝒕𝒂𝒕𝒊𝒗𝒆𝒏𝒆𝒔𝒔</m:t>
                              </m:r>
                              <m:r>
                                <a:rPr lang="en-US" sz="1800" b="1" kern="1200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 × </m:t>
                              </m:r>
                              <m:r>
                                <a:rPr lang="en-US" sz="1800" b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𝑪𝒐𝒗𝒆𝒓𝒂𝒈𝒆</m:t>
                              </m:r>
                            </m:oMath>
                          </a14:m>
                          <a:endParaRPr lang="en-IL" sz="1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029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C1A01A92-2375-DF6A-2E0F-577C7013B4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7138310"/>
                  </p:ext>
                </p:extLst>
              </p:nvPr>
            </p:nvGraphicFramePr>
            <p:xfrm>
              <a:off x="159368" y="3799989"/>
              <a:ext cx="11873264" cy="29288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33268">
                      <a:extLst>
                        <a:ext uri="{9D8B030D-6E8A-4147-A177-3AD203B41FA5}">
                          <a16:colId xmlns:a16="http://schemas.microsoft.com/office/drawing/2014/main" val="423590024"/>
                        </a:ext>
                      </a:extLst>
                    </a:gridCol>
                    <a:gridCol w="526093">
                      <a:extLst>
                        <a:ext uri="{9D8B030D-6E8A-4147-A177-3AD203B41FA5}">
                          <a16:colId xmlns:a16="http://schemas.microsoft.com/office/drawing/2014/main" val="183656186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968133467"/>
                        </a:ext>
                      </a:extLst>
                    </a:gridCol>
                    <a:gridCol w="5317108">
                      <a:extLst>
                        <a:ext uri="{9D8B030D-6E8A-4147-A177-3AD203B41FA5}">
                          <a16:colId xmlns:a16="http://schemas.microsoft.com/office/drawing/2014/main" val="57001393"/>
                        </a:ext>
                      </a:extLst>
                    </a:gridCol>
                    <a:gridCol w="488515">
                      <a:extLst>
                        <a:ext uri="{9D8B030D-6E8A-4147-A177-3AD203B41FA5}">
                          <a16:colId xmlns:a16="http://schemas.microsoft.com/office/drawing/2014/main" val="1308217637"/>
                        </a:ext>
                      </a:extLst>
                    </a:gridCol>
                  </a:tblGrid>
                  <a:tr h="413714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GS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GS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813935"/>
                      </a:ext>
                    </a:extLst>
                  </a:tr>
                  <a:tr h="1199642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t="-46809" r="-123095" b="-111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l="-114081" t="-46809" r="-9547" b="-111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3530193"/>
                      </a:ext>
                    </a:extLst>
                  </a:tr>
                  <a:tr h="675386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t="-255556" r="-123095" b="-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r>
                            <a:rPr lang="en-US" dirty="0"/>
                            <a:t>U</a:t>
                          </a:r>
                          <a:r>
                            <a:rPr lang="en-IL" dirty="0"/>
                            <a:t>tility = HD + diversity-score(A)</a:t>
                          </a:r>
                        </a:p>
                      </a:txBody>
                      <a:tcPr/>
                    </a:tc>
                    <a:tc rowSpan="2" hMerge="1"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056487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4"/>
                          <a:stretch>
                            <a:fillRect t="-384000" r="-123095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6029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2959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7BA6-66D0-CB26-2E5F-BA6063FC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63" y="-123958"/>
            <a:ext cx="10515600" cy="1325563"/>
          </a:xfrm>
        </p:spPr>
        <p:txBody>
          <a:bodyPr/>
          <a:lstStyle/>
          <a:p>
            <a:r>
              <a:rPr lang="en-IL" dirty="0"/>
              <a:t>Privacy Analayzing using Composition Rules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81DD73-B8CE-395B-009F-F70DD34EEBB5}"/>
              </a:ext>
            </a:extLst>
          </p:cNvPr>
          <p:cNvGrpSpPr/>
          <p:nvPr/>
        </p:nvGrpSpPr>
        <p:grpSpPr>
          <a:xfrm>
            <a:off x="-442982" y="2351528"/>
            <a:ext cx="12352772" cy="3066609"/>
            <a:chOff x="124178" y="129189"/>
            <a:chExt cx="12352772" cy="306660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FB592E4-3C6B-EF5F-370C-58679A140485}"/>
                </a:ext>
              </a:extLst>
            </p:cNvPr>
            <p:cNvSpPr/>
            <p:nvPr/>
          </p:nvSpPr>
          <p:spPr>
            <a:xfrm>
              <a:off x="2122312" y="715107"/>
              <a:ext cx="1345753" cy="10597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Refinement Algorithm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9594C6C4-1ECE-CC6A-F812-7E0D58CE7148}"/>
                </a:ext>
              </a:extLst>
            </p:cNvPr>
            <p:cNvSpPr/>
            <p:nvPr/>
          </p:nvSpPr>
          <p:spPr>
            <a:xfrm>
              <a:off x="1469930" y="1140178"/>
              <a:ext cx="652381" cy="24863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1BD8B26-E76E-4752-52E1-9293E2DCFEA9}"/>
                    </a:ext>
                  </a:extLst>
                </p:cNvPr>
                <p:cNvSpPr txBox="1"/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Private Dataset D</a:t>
                  </a:r>
                </a:p>
                <a:p>
                  <a:r>
                    <a:rPr lang="en-US" dirty="0"/>
                    <a:t>Q</a:t>
                  </a:r>
                  <a:r>
                    <a:rPr lang="en-IL" dirty="0"/>
                    <a:t>uery Q </a:t>
                  </a:r>
                  <a:r>
                    <a:rPr lang="en-IL" sz="1200" dirty="0"/>
                    <a:t>(aggregation)</a:t>
                  </a:r>
                </a:p>
                <a:p>
                  <a:r>
                    <a:rPr lang="en-IL" dirty="0"/>
                    <a:t>Constraints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IL" dirty="0"/>
                </a:p>
                <a:p>
                  <a:r>
                    <a:rPr lang="en-IL" dirty="0"/>
                    <a:t>K</a:t>
                  </a:r>
                </a:p>
                <a:p>
                  <a:r>
                    <a:rPr lang="en-IL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</a:rPr>
                    <a:t>Tau</a:t>
                  </a:r>
                </a:p>
                <a:p>
                  <a:endParaRPr lang="en-IL" dirty="0"/>
                </a:p>
                <a:p>
                  <a:endParaRPr lang="en-IL" dirty="0"/>
                </a:p>
                <a:p>
                  <a:endParaRPr lang="en-IL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1BD8B26-E76E-4752-52E1-9293E2DCF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blipFill>
                  <a:blip r:embed="rId2"/>
                  <a:stretch>
                    <a:fillRect l="-1974" t="-976" r="-131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A492E8-CC52-BB6D-A8AD-A648692ED162}"/>
                </a:ext>
              </a:extLst>
            </p:cNvPr>
            <p:cNvSpPr/>
            <p:nvPr/>
          </p:nvSpPr>
          <p:spPr>
            <a:xfrm>
              <a:off x="4162539" y="633708"/>
              <a:ext cx="1332085" cy="10597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  <a:r>
                <a:rPr lang="en-IL" dirty="0"/>
                <a:t>iews generation using predicates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F5CF5C14-7053-AC82-F67B-75149CD3598A}"/>
                </a:ext>
              </a:extLst>
            </p:cNvPr>
            <p:cNvSpPr/>
            <p:nvPr/>
          </p:nvSpPr>
          <p:spPr>
            <a:xfrm>
              <a:off x="3527141" y="1140177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6B9E4D-024B-F79B-6C0C-0DFEB2C4252D}"/>
                </a:ext>
              </a:extLst>
            </p:cNvPr>
            <p:cNvSpPr txBox="1"/>
            <p:nvPr/>
          </p:nvSpPr>
          <p:spPr>
            <a:xfrm>
              <a:off x="3569233" y="77084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Q’</a:t>
              </a:r>
              <a:endParaRPr lang="en-IL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1F67D8-C54A-812E-46A1-612C7E5BCBED}"/>
                </a:ext>
              </a:extLst>
            </p:cNvPr>
            <p:cNvSpPr/>
            <p:nvPr/>
          </p:nvSpPr>
          <p:spPr>
            <a:xfrm>
              <a:off x="11365497" y="129189"/>
              <a:ext cx="1111453" cy="20966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Find the top-K scored attributes and generate noisy histograms </a:t>
              </a:r>
              <a:endParaRPr lang="en-IL" sz="140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9FDCFC-D448-80A4-1C4C-CD4AB55475B7}"/>
                </a:ext>
              </a:extLst>
            </p:cNvPr>
            <p:cNvGrpSpPr/>
            <p:nvPr/>
          </p:nvGrpSpPr>
          <p:grpSpPr>
            <a:xfrm>
              <a:off x="2577247" y="2476304"/>
              <a:ext cx="3471552" cy="719494"/>
              <a:chOff x="4992596" y="826148"/>
              <a:chExt cx="3471552" cy="719494"/>
            </a:xfrm>
          </p:grpSpPr>
          <p:sp>
            <p:nvSpPr>
              <p:cNvPr id="26" name="Right Arrow 25">
                <a:extLst>
                  <a:ext uri="{FF2B5EF4-FFF2-40B4-BE49-F238E27FC236}">
                    <a16:creationId xmlns:a16="http://schemas.microsoft.com/office/drawing/2014/main" id="{C20E1D91-6DA0-7830-464F-DE03FB937D98}"/>
                  </a:ext>
                </a:extLst>
              </p:cNvPr>
              <p:cNvSpPr/>
              <p:nvPr/>
            </p:nvSpPr>
            <p:spPr>
              <a:xfrm>
                <a:off x="4992596" y="1140177"/>
                <a:ext cx="1599721" cy="22325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AFC7DC1-DF9A-E69C-8CBE-E7450EA78220}"/>
                  </a:ext>
                </a:extLst>
              </p:cNvPr>
              <p:cNvSpPr/>
              <p:nvPr/>
            </p:nvSpPr>
            <p:spPr>
              <a:xfrm>
                <a:off x="6782181" y="891451"/>
                <a:ext cx="1681967" cy="65419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Generate noisy histogram</a:t>
                </a:r>
                <a:endParaRPr lang="en-IL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53FB0A-820F-76E5-F36E-109206451AC9}"/>
                  </a:ext>
                </a:extLst>
              </p:cNvPr>
              <p:cNvSpPr txBox="1"/>
              <p:nvPr/>
            </p:nvSpPr>
            <p:spPr>
              <a:xfrm>
                <a:off x="5060995" y="826148"/>
                <a:ext cx="1629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Constraint </a:t>
                </a:r>
                <a:r>
                  <a:rPr lang="en-US" dirty="0" err="1"/>
                  <a:t>attr</a:t>
                </a:r>
                <a:endParaRPr lang="en-IL" dirty="0"/>
              </a:p>
            </p:txBody>
          </p:sp>
        </p:grp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D460FDDD-41CE-2209-B36D-654A5E2C8DCE}"/>
                </a:ext>
              </a:extLst>
            </p:cNvPr>
            <p:cNvSpPr/>
            <p:nvPr/>
          </p:nvSpPr>
          <p:spPr>
            <a:xfrm rot="5400000">
              <a:off x="2102254" y="2293703"/>
              <a:ext cx="971186" cy="11559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97EBFC-0C12-5775-3571-4ADB15332388}"/>
                </a:ext>
              </a:extLst>
            </p:cNvPr>
            <p:cNvSpPr/>
            <p:nvPr/>
          </p:nvSpPr>
          <p:spPr>
            <a:xfrm>
              <a:off x="6422187" y="261085"/>
              <a:ext cx="1452600" cy="230832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u="sng" dirty="0"/>
                <a:t>Exponential Mechanism:</a:t>
              </a:r>
            </a:p>
            <a:p>
              <a:pPr algn="ctr"/>
              <a:r>
                <a:rPr lang="en-US" dirty="0"/>
                <a:t>Choose the top-</a:t>
              </a: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tau </a:t>
              </a:r>
              <a:r>
                <a:rPr lang="en-US" dirty="0">
                  <a:solidFill>
                    <a:schemeClr val="tx1"/>
                  </a:solidFill>
                </a:rPr>
                <a:t>v</a:t>
              </a:r>
              <a:r>
                <a:rPr lang="en-US" dirty="0"/>
                <a:t>iews using the </a:t>
              </a:r>
              <a:r>
                <a:rPr lang="en-US" dirty="0">
                  <a:solidFill>
                    <a:srgbClr val="00B050"/>
                  </a:solidFill>
                </a:rPr>
                <a:t>usefulness</a:t>
              </a:r>
              <a:r>
                <a:rPr lang="en-US" dirty="0"/>
                <a:t> filter</a:t>
              </a:r>
              <a:endParaRPr lang="en-IL" dirty="0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CEAF427F-306C-F43F-AA6B-E38EA21B8594}"/>
                </a:ext>
              </a:extLst>
            </p:cNvPr>
            <p:cNvSpPr/>
            <p:nvPr/>
          </p:nvSpPr>
          <p:spPr>
            <a:xfrm>
              <a:off x="8322553" y="497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3470DF-1434-7A02-D7C4-7D8AAAAA98FA}"/>
                </a:ext>
              </a:extLst>
            </p:cNvPr>
            <p:cNvSpPr txBox="1"/>
            <p:nvPr/>
          </p:nvSpPr>
          <p:spPr>
            <a:xfrm>
              <a:off x="8348540" y="17101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effectLst/>
                  <a:latin typeface="Helvetica" pitchFamily="2" charset="0"/>
                </a:rPr>
                <a:t>…</a:t>
              </a:r>
              <a:endParaRPr lang="en-IL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386BE3CF-6900-2214-6F4B-3B098E5F9566}"/>
                </a:ext>
              </a:extLst>
            </p:cNvPr>
            <p:cNvSpPr/>
            <p:nvPr/>
          </p:nvSpPr>
          <p:spPr>
            <a:xfrm>
              <a:off x="8322553" y="941752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E8D1D742-231A-388B-331C-818146C0B4C0}"/>
                </a:ext>
              </a:extLst>
            </p:cNvPr>
            <p:cNvSpPr/>
            <p:nvPr/>
          </p:nvSpPr>
          <p:spPr>
            <a:xfrm>
              <a:off x="8322553" y="1385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E1B306CE-C8A6-F9E3-43A4-04F0C61B0AE7}"/>
                </a:ext>
              </a:extLst>
            </p:cNvPr>
            <p:cNvSpPr/>
            <p:nvPr/>
          </p:nvSpPr>
          <p:spPr>
            <a:xfrm>
              <a:off x="8322553" y="2126510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77921E7-6650-9E3B-C685-E62ED2DE4DD0}"/>
                    </a:ext>
                  </a:extLst>
                </p:cNvPr>
                <p:cNvSpPr txBox="1"/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𝐴𝑡𝑡𝑟𝑠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77921E7-6650-9E3B-C685-E62ED2DE4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B6C23E43-7F27-E48D-94CC-549D0155DDED}"/>
                </a:ext>
              </a:extLst>
            </p:cNvPr>
            <p:cNvSpPr/>
            <p:nvPr/>
          </p:nvSpPr>
          <p:spPr>
            <a:xfrm>
              <a:off x="5724073" y="1139330"/>
              <a:ext cx="54829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IL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C60D3DA-44C5-5AC2-3C02-12D7D2DBF997}"/>
                </a:ext>
              </a:extLst>
            </p:cNvPr>
            <p:cNvSpPr/>
            <p:nvPr/>
          </p:nvSpPr>
          <p:spPr>
            <a:xfrm>
              <a:off x="9226486" y="251330"/>
              <a:ext cx="1249761" cy="1776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u="sng" dirty="0"/>
                <a:t>Exponential Mechanism:</a:t>
              </a:r>
            </a:p>
            <a:p>
              <a:pPr algn="ctr"/>
              <a:r>
                <a:rPr lang="en-US" sz="1400" dirty="0"/>
                <a:t>Choose the best view using </a:t>
              </a:r>
              <a:r>
                <a:rPr lang="en-US" sz="1400" dirty="0">
                  <a:solidFill>
                    <a:srgbClr val="00B050"/>
                  </a:solidFill>
                </a:rPr>
                <a:t>HD</a:t>
              </a:r>
              <a:endParaRPr lang="en-IL" sz="1400" dirty="0">
                <a:solidFill>
                  <a:srgbClr val="00B050"/>
                </a:solidFill>
              </a:endParaRP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7F04B4B4-2479-CE65-FEC2-606FF6C2EC4B}"/>
                </a:ext>
              </a:extLst>
            </p:cNvPr>
            <p:cNvSpPr/>
            <p:nvPr/>
          </p:nvSpPr>
          <p:spPr>
            <a:xfrm>
              <a:off x="10624219" y="1060568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F99CF6D-41F1-1880-769D-AD29BB82078B}"/>
              </a:ext>
            </a:extLst>
          </p:cNvPr>
          <p:cNvSpPr txBox="1"/>
          <p:nvPr/>
        </p:nvSpPr>
        <p:spPr>
          <a:xfrm>
            <a:off x="4071245" y="24237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1D5C6D32-9B50-7DE7-50A6-321011C135DE}"/>
              </a:ext>
            </a:extLst>
          </p:cNvPr>
          <p:cNvSpPr/>
          <p:nvPr/>
        </p:nvSpPr>
        <p:spPr>
          <a:xfrm rot="5400000">
            <a:off x="6405641" y="1489579"/>
            <a:ext cx="360724" cy="14619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2438DA-1CFF-9B94-B061-24197B997874}"/>
                  </a:ext>
                </a:extLst>
              </p:cNvPr>
              <p:cNvSpPr txBox="1"/>
              <p:nvPr/>
            </p:nvSpPr>
            <p:spPr>
              <a:xfrm>
                <a:off x="5335544" y="1208215"/>
                <a:ext cx="2299466" cy="719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den>
                        </m:f>
                      </m:e>
                    </m:rad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2438DA-1CFF-9B94-B061-24197B997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544" y="1208215"/>
                <a:ext cx="2299466" cy="7192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40A0EB1A-1756-3361-51E2-20469F0706BE}"/>
              </a:ext>
            </a:extLst>
          </p:cNvPr>
          <p:cNvSpPr/>
          <p:nvPr/>
        </p:nvSpPr>
        <p:spPr>
          <a:xfrm rot="16200000">
            <a:off x="9657430" y="2686028"/>
            <a:ext cx="350323" cy="415439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B198C4-0D40-3725-795C-2967840E643A}"/>
                  </a:ext>
                </a:extLst>
              </p:cNvPr>
              <p:cNvSpPr txBox="1"/>
              <p:nvPr/>
            </p:nvSpPr>
            <p:spPr>
              <a:xfrm>
                <a:off x="8105940" y="4938390"/>
                <a:ext cx="1452600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𝐴𝑡𝑡𝑟𝑠</m:t>
                                </m:r>
                              </m:e>
                            </m:d>
                          </m:den>
                        </m:f>
                      </m:e>
                    </m:rad>
                  </m:oMath>
                </a14:m>
                <a:endParaRPr lang="en-IL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B198C4-0D40-3725-795C-2967840E6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940" y="4938390"/>
                <a:ext cx="1452600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C6B113E-8EBE-8B57-1F94-ACEA385E8CC7}"/>
                  </a:ext>
                </a:extLst>
              </p:cNvPr>
              <p:cNvSpPr txBox="1"/>
              <p:nvPr/>
            </p:nvSpPr>
            <p:spPr>
              <a:xfrm>
                <a:off x="5109152" y="6210178"/>
                <a:ext cx="5509704" cy="56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𝑝𝑟𝑖𝑣𝑎𝑐𝑦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𝑏𝑢𝑑𝑔𝑒𝑡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C6B113E-8EBE-8B57-1F94-ACEA385E8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152" y="6210178"/>
                <a:ext cx="5509704" cy="566758"/>
              </a:xfrm>
              <a:prstGeom prst="rect">
                <a:avLst/>
              </a:prstGeom>
              <a:blipFill>
                <a:blip r:embed="rId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e 34">
            <a:extLst>
              <a:ext uri="{FF2B5EF4-FFF2-40B4-BE49-F238E27FC236}">
                <a16:creationId xmlns:a16="http://schemas.microsoft.com/office/drawing/2014/main" id="{7E52319D-53D8-7409-B76F-C0BBAF2E4AF9}"/>
              </a:ext>
            </a:extLst>
          </p:cNvPr>
          <p:cNvSpPr/>
          <p:nvPr/>
        </p:nvSpPr>
        <p:spPr>
          <a:xfrm rot="16200000">
            <a:off x="7730663" y="4001564"/>
            <a:ext cx="266682" cy="4017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E4B0E07-DF1F-AE0B-681D-08D527769202}"/>
                  </a:ext>
                </a:extLst>
              </p:cNvPr>
              <p:cNvSpPr txBox="1"/>
              <p:nvPr/>
            </p:nvSpPr>
            <p:spPr>
              <a:xfrm>
                <a:off x="7316979" y="1115332"/>
                <a:ext cx="371941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IL" dirty="0"/>
              </a:p>
              <a:p>
                <a:r>
                  <a:rPr lang="en-IL" dirty="0"/>
                  <a:t>   …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E4B0E07-DF1F-AE0B-681D-08D527769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979" y="1115332"/>
                <a:ext cx="3719416" cy="1200329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5074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F48C-61CD-04A6-9439-EA7045C0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BE6F-3EBC-8F9F-9A50-684EB0DD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63" y="-123958"/>
            <a:ext cx="10515600" cy="1325563"/>
          </a:xfrm>
        </p:spPr>
        <p:txBody>
          <a:bodyPr/>
          <a:lstStyle/>
          <a:p>
            <a:r>
              <a:rPr lang="en-IL" dirty="0"/>
              <a:t>Privacy Analayzing using Composition Rules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3426558-3DD0-7ADA-C864-A04529688A8C}"/>
              </a:ext>
            </a:extLst>
          </p:cNvPr>
          <p:cNvGrpSpPr/>
          <p:nvPr/>
        </p:nvGrpSpPr>
        <p:grpSpPr>
          <a:xfrm>
            <a:off x="173620" y="2381959"/>
            <a:ext cx="12018380" cy="3185464"/>
            <a:chOff x="124178" y="129189"/>
            <a:chExt cx="12352772" cy="306660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BD43ACF-9B3F-2533-A3DE-764F5F8E87F3}"/>
                </a:ext>
              </a:extLst>
            </p:cNvPr>
            <p:cNvSpPr/>
            <p:nvPr/>
          </p:nvSpPr>
          <p:spPr>
            <a:xfrm>
              <a:off x="2122312" y="715107"/>
              <a:ext cx="1345753" cy="10597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Refinement Algorithm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2114F3B1-DA1B-F477-268D-6CFE26CC8955}"/>
                </a:ext>
              </a:extLst>
            </p:cNvPr>
            <p:cNvSpPr/>
            <p:nvPr/>
          </p:nvSpPr>
          <p:spPr>
            <a:xfrm>
              <a:off x="1469930" y="1140178"/>
              <a:ext cx="652381" cy="24863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0792FD-E914-0219-1C10-63F15F7519C2}"/>
                    </a:ext>
                  </a:extLst>
                </p:cNvPr>
                <p:cNvSpPr txBox="1"/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Private Dataset D</a:t>
                  </a:r>
                </a:p>
                <a:p>
                  <a:r>
                    <a:rPr lang="en-US" dirty="0"/>
                    <a:t>Q</a:t>
                  </a:r>
                  <a:r>
                    <a:rPr lang="en-IL" dirty="0"/>
                    <a:t>uery Q </a:t>
                  </a:r>
                  <a:r>
                    <a:rPr lang="en-IL" sz="1200" dirty="0"/>
                    <a:t>(aggregation)</a:t>
                  </a:r>
                </a:p>
                <a:p>
                  <a:r>
                    <a:rPr lang="en-IL" dirty="0"/>
                    <a:t>Constraints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IL" dirty="0"/>
                </a:p>
                <a:p>
                  <a:r>
                    <a:rPr lang="en-IL" dirty="0"/>
                    <a:t>K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IL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  <a:p>
                  <a:endParaRPr lang="en-IL" dirty="0"/>
                </a:p>
                <a:p>
                  <a:endParaRPr lang="en-IL" dirty="0"/>
                </a:p>
                <a:p>
                  <a:endParaRPr lang="en-IL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0792FD-E914-0219-1C10-63F15F7519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blipFill>
                  <a:blip r:embed="rId2"/>
                  <a:stretch>
                    <a:fillRect l="-2703" t="-1415" r="-405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7B9FF6-F1F5-53FE-9A1E-0957050B0C4C}"/>
                </a:ext>
              </a:extLst>
            </p:cNvPr>
            <p:cNvSpPr/>
            <p:nvPr/>
          </p:nvSpPr>
          <p:spPr>
            <a:xfrm>
              <a:off x="4162539" y="633708"/>
              <a:ext cx="1332085" cy="10597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  <a:r>
                <a:rPr lang="en-IL" dirty="0"/>
                <a:t>iews generation using predicates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AA265714-9E7B-558C-FE68-3E40B26A67A5}"/>
                </a:ext>
              </a:extLst>
            </p:cNvPr>
            <p:cNvSpPr/>
            <p:nvPr/>
          </p:nvSpPr>
          <p:spPr>
            <a:xfrm>
              <a:off x="3527141" y="1140177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C75CB0-1900-4D08-3DA7-9979DAE0C227}"/>
                </a:ext>
              </a:extLst>
            </p:cNvPr>
            <p:cNvSpPr txBox="1"/>
            <p:nvPr/>
          </p:nvSpPr>
          <p:spPr>
            <a:xfrm>
              <a:off x="3569233" y="77084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Q’</a:t>
              </a:r>
              <a:endParaRPr lang="en-IL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D6B07C-D858-C68E-2211-7FF15CAB3969}"/>
                </a:ext>
              </a:extLst>
            </p:cNvPr>
            <p:cNvSpPr/>
            <p:nvPr/>
          </p:nvSpPr>
          <p:spPr>
            <a:xfrm>
              <a:off x="11365497" y="129189"/>
              <a:ext cx="1111453" cy="20966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Find the top-K scored attributes and generate noisy histograms </a:t>
              </a:r>
              <a:endParaRPr lang="en-IL" sz="140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42E6AAB-3E08-12FD-F1C0-56631567E19A}"/>
                </a:ext>
              </a:extLst>
            </p:cNvPr>
            <p:cNvGrpSpPr/>
            <p:nvPr/>
          </p:nvGrpSpPr>
          <p:grpSpPr>
            <a:xfrm>
              <a:off x="2577247" y="2476304"/>
              <a:ext cx="3471552" cy="719494"/>
              <a:chOff x="4992596" y="826148"/>
              <a:chExt cx="3471552" cy="719494"/>
            </a:xfrm>
          </p:grpSpPr>
          <p:sp>
            <p:nvSpPr>
              <p:cNvPr id="26" name="Right Arrow 25">
                <a:extLst>
                  <a:ext uri="{FF2B5EF4-FFF2-40B4-BE49-F238E27FC236}">
                    <a16:creationId xmlns:a16="http://schemas.microsoft.com/office/drawing/2014/main" id="{59A25A2E-B57A-F8FC-7194-A3AE3664B8EA}"/>
                  </a:ext>
                </a:extLst>
              </p:cNvPr>
              <p:cNvSpPr/>
              <p:nvPr/>
            </p:nvSpPr>
            <p:spPr>
              <a:xfrm>
                <a:off x="4992596" y="1140177"/>
                <a:ext cx="1599721" cy="22325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FEC9169-AF26-7B6C-37E5-0F8B2105E5E3}"/>
                  </a:ext>
                </a:extLst>
              </p:cNvPr>
              <p:cNvSpPr/>
              <p:nvPr/>
            </p:nvSpPr>
            <p:spPr>
              <a:xfrm>
                <a:off x="6782181" y="891451"/>
                <a:ext cx="1681967" cy="65419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Generate noisy histogram</a:t>
                </a:r>
                <a:endParaRPr lang="en-IL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2A33F5-D53A-25F2-4A75-AE59E6B5EFEF}"/>
                  </a:ext>
                </a:extLst>
              </p:cNvPr>
              <p:cNvSpPr txBox="1"/>
              <p:nvPr/>
            </p:nvSpPr>
            <p:spPr>
              <a:xfrm>
                <a:off x="5060995" y="826148"/>
                <a:ext cx="1629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Constraint </a:t>
                </a:r>
                <a:r>
                  <a:rPr lang="en-US" dirty="0" err="1"/>
                  <a:t>attr</a:t>
                </a:r>
                <a:endParaRPr lang="en-IL" dirty="0"/>
              </a:p>
            </p:txBody>
          </p:sp>
        </p:grp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FC47794C-8A1D-7619-E6D0-CC1E6EA95CEC}"/>
                </a:ext>
              </a:extLst>
            </p:cNvPr>
            <p:cNvSpPr/>
            <p:nvPr/>
          </p:nvSpPr>
          <p:spPr>
            <a:xfrm rot="5400000">
              <a:off x="2102254" y="2293703"/>
              <a:ext cx="971186" cy="11559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FB76C79-8980-5AD6-08DE-7643536BA719}"/>
                    </a:ext>
                  </a:extLst>
                </p:cNvPr>
                <p:cNvSpPr/>
                <p:nvPr/>
              </p:nvSpPr>
              <p:spPr>
                <a:xfrm>
                  <a:off x="6422187" y="261085"/>
                  <a:ext cx="1452600" cy="230832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u="sng" dirty="0"/>
                    <a:t>Exponential Mechanism:</a:t>
                  </a:r>
                </a:p>
                <a:p>
                  <a:pPr algn="ctr"/>
                  <a:r>
                    <a:rPr lang="en-US" dirty="0"/>
                    <a:t>Choose the top-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v</a:t>
                  </a:r>
                  <a:r>
                    <a:rPr lang="en-US" dirty="0"/>
                    <a:t>iews using the </a:t>
                  </a:r>
                  <a:r>
                    <a:rPr lang="en-US" dirty="0">
                      <a:solidFill>
                        <a:srgbClr val="00B050"/>
                      </a:solidFill>
                    </a:rPr>
                    <a:t>usefulness</a:t>
                  </a:r>
                  <a:r>
                    <a:rPr lang="en-US" dirty="0"/>
                    <a:t> filter</a:t>
                  </a:r>
                  <a:endParaRPr lang="en-IL" dirty="0"/>
                </a:p>
              </p:txBody>
            </p:sp>
          </mc:Choice>
          <mc:Fallback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FB76C79-8980-5AD6-08DE-7643536BA7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2187" y="261085"/>
                  <a:ext cx="1452600" cy="2308324"/>
                </a:xfrm>
                <a:prstGeom prst="rect">
                  <a:avLst/>
                </a:prstGeom>
                <a:blipFill>
                  <a:blip r:embed="rId3"/>
                  <a:stretch>
                    <a:fillRect l="-2632" r="-263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99B354F8-D05C-D728-6E30-91606186C3AE}"/>
                </a:ext>
              </a:extLst>
            </p:cNvPr>
            <p:cNvSpPr/>
            <p:nvPr/>
          </p:nvSpPr>
          <p:spPr>
            <a:xfrm>
              <a:off x="8322553" y="497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C8675A-889F-ABDE-837F-20757087D43B}"/>
                </a:ext>
              </a:extLst>
            </p:cNvPr>
            <p:cNvSpPr txBox="1"/>
            <p:nvPr/>
          </p:nvSpPr>
          <p:spPr>
            <a:xfrm>
              <a:off x="8348540" y="17101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effectLst/>
                  <a:latin typeface="Helvetica" pitchFamily="2" charset="0"/>
                </a:rPr>
                <a:t>…</a:t>
              </a:r>
              <a:endParaRPr lang="en-IL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6C020662-258F-0C35-4DFC-B44F3C6B71CF}"/>
                </a:ext>
              </a:extLst>
            </p:cNvPr>
            <p:cNvSpPr/>
            <p:nvPr/>
          </p:nvSpPr>
          <p:spPr>
            <a:xfrm>
              <a:off x="8322553" y="941752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E242C5CA-644D-76E1-D253-7B1057F13317}"/>
                </a:ext>
              </a:extLst>
            </p:cNvPr>
            <p:cNvSpPr/>
            <p:nvPr/>
          </p:nvSpPr>
          <p:spPr>
            <a:xfrm>
              <a:off x="8322553" y="1385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B698AFED-4458-3442-C67C-444C2BC56A55}"/>
                </a:ext>
              </a:extLst>
            </p:cNvPr>
            <p:cNvSpPr/>
            <p:nvPr/>
          </p:nvSpPr>
          <p:spPr>
            <a:xfrm>
              <a:off x="8322553" y="2126510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3318430-206A-33B6-FF73-EFFB519CD8F6}"/>
                    </a:ext>
                  </a:extLst>
                </p:cNvPr>
                <p:cNvSpPr txBox="1"/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𝐴𝑡𝑡𝑟𝑠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3318430-206A-33B6-FF73-EFFB519CD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CB5DF947-9A40-2F7F-D9E0-24E7D7CE9F2D}"/>
                </a:ext>
              </a:extLst>
            </p:cNvPr>
            <p:cNvSpPr/>
            <p:nvPr/>
          </p:nvSpPr>
          <p:spPr>
            <a:xfrm>
              <a:off x="5724073" y="1139330"/>
              <a:ext cx="54829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IL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009FEA-32BF-97AC-3F6D-C97529CF1063}"/>
                </a:ext>
              </a:extLst>
            </p:cNvPr>
            <p:cNvSpPr/>
            <p:nvPr/>
          </p:nvSpPr>
          <p:spPr>
            <a:xfrm>
              <a:off x="9226486" y="251330"/>
              <a:ext cx="1249761" cy="1776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u="sng" dirty="0"/>
                <a:t>Exponential Mechanism:</a:t>
              </a:r>
            </a:p>
            <a:p>
              <a:pPr algn="ctr"/>
              <a:r>
                <a:rPr lang="en-US" sz="1400" dirty="0"/>
                <a:t>Choose the best view using </a:t>
              </a:r>
              <a:r>
                <a:rPr lang="en-US" sz="1400" dirty="0">
                  <a:solidFill>
                    <a:srgbClr val="00B050"/>
                  </a:solidFill>
                </a:rPr>
                <a:t>HD</a:t>
              </a:r>
              <a:endParaRPr lang="en-IL" sz="1400" dirty="0">
                <a:solidFill>
                  <a:srgbClr val="00B050"/>
                </a:solidFill>
              </a:endParaRP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12CC7333-99D7-4534-0EEA-A71C16CADBD1}"/>
                </a:ext>
              </a:extLst>
            </p:cNvPr>
            <p:cNvSpPr/>
            <p:nvPr/>
          </p:nvSpPr>
          <p:spPr>
            <a:xfrm>
              <a:off x="10624219" y="1060568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40F62C-AD6D-612B-64A5-C506D9F73249}"/>
                  </a:ext>
                </a:extLst>
              </p:cNvPr>
              <p:cNvSpPr txBox="1"/>
              <p:nvPr/>
            </p:nvSpPr>
            <p:spPr>
              <a:xfrm>
                <a:off x="5109152" y="6210178"/>
                <a:ext cx="5509704" cy="56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𝑝𝑟𝑖𝑣𝑎𝑐𝑦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𝑏𝑢𝑑𝑔𝑒𝑡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40F62C-AD6D-612B-64A5-C506D9F73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152" y="6210178"/>
                <a:ext cx="5509704" cy="566758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e 34">
            <a:extLst>
              <a:ext uri="{FF2B5EF4-FFF2-40B4-BE49-F238E27FC236}">
                <a16:creationId xmlns:a16="http://schemas.microsoft.com/office/drawing/2014/main" id="{ED3C0EF5-9F3B-CE21-A80B-40534F1D3E22}"/>
              </a:ext>
            </a:extLst>
          </p:cNvPr>
          <p:cNvSpPr/>
          <p:nvPr/>
        </p:nvSpPr>
        <p:spPr>
          <a:xfrm rot="16200000">
            <a:off x="7730663" y="4001564"/>
            <a:ext cx="266682" cy="4017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AA06BBD-AFC9-7CBB-C1C3-682C43BD5AF4}"/>
                  </a:ext>
                </a:extLst>
              </p:cNvPr>
              <p:cNvSpPr txBox="1"/>
              <p:nvPr/>
            </p:nvSpPr>
            <p:spPr>
              <a:xfrm>
                <a:off x="7316979" y="1115332"/>
                <a:ext cx="371941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IL" dirty="0"/>
              </a:p>
              <a:p>
                <a:r>
                  <a:rPr lang="en-IL" dirty="0"/>
                  <a:t>   …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AA06BBD-AFC9-7CBB-C1C3-682C43BD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979" y="1115332"/>
                <a:ext cx="3719416" cy="1200329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518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A055-E32B-44BB-DF73-CCD1824D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530E-1F68-8B90-22E6-E6A8D207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463" y="-123958"/>
            <a:ext cx="10515600" cy="1325563"/>
          </a:xfrm>
        </p:spPr>
        <p:txBody>
          <a:bodyPr/>
          <a:lstStyle/>
          <a:p>
            <a:r>
              <a:rPr lang="en-IL" dirty="0"/>
              <a:t>Privacy Analayzing using Composition Rules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3A05B9-FB6F-070C-D5B4-33828B022882}"/>
              </a:ext>
            </a:extLst>
          </p:cNvPr>
          <p:cNvGrpSpPr/>
          <p:nvPr/>
        </p:nvGrpSpPr>
        <p:grpSpPr>
          <a:xfrm>
            <a:off x="173620" y="2381959"/>
            <a:ext cx="12018380" cy="3185464"/>
            <a:chOff x="124178" y="129189"/>
            <a:chExt cx="12352772" cy="306660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2E714F-FC42-EA78-2263-A60A8AA15252}"/>
                </a:ext>
              </a:extLst>
            </p:cNvPr>
            <p:cNvSpPr/>
            <p:nvPr/>
          </p:nvSpPr>
          <p:spPr>
            <a:xfrm>
              <a:off x="2122312" y="715107"/>
              <a:ext cx="1345753" cy="105974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dirty="0"/>
                <a:t>Refinement Algorithm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073F1829-6EC0-86FA-5E26-20759F0741B5}"/>
                </a:ext>
              </a:extLst>
            </p:cNvPr>
            <p:cNvSpPr/>
            <p:nvPr/>
          </p:nvSpPr>
          <p:spPr>
            <a:xfrm>
              <a:off x="1469930" y="1140178"/>
              <a:ext cx="652381" cy="24863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194D7E9-E1DF-9917-4ED2-034AF146CFFA}"/>
                    </a:ext>
                  </a:extLst>
                </p:cNvPr>
                <p:cNvSpPr txBox="1"/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Private Dataset D</a:t>
                  </a:r>
                </a:p>
                <a:p>
                  <a:r>
                    <a:rPr lang="en-US" dirty="0"/>
                    <a:t>Q</a:t>
                  </a:r>
                  <a:r>
                    <a:rPr lang="en-IL" dirty="0"/>
                    <a:t>uery Q </a:t>
                  </a:r>
                  <a:r>
                    <a:rPr lang="en-IL" sz="1200" dirty="0"/>
                    <a:t>(aggregation)</a:t>
                  </a:r>
                </a:p>
                <a:p>
                  <a:r>
                    <a:rPr lang="en-IL" dirty="0"/>
                    <a:t>Constraints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IL" dirty="0"/>
                </a:p>
                <a:p>
                  <a:r>
                    <a:rPr lang="en-IL" dirty="0"/>
                    <a:t>K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n-IL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endParaRPr>
                </a:p>
                <a:p>
                  <a:endParaRPr lang="en-IL" dirty="0"/>
                </a:p>
                <a:p>
                  <a:endParaRPr lang="en-IL" dirty="0"/>
                </a:p>
                <a:p>
                  <a:endParaRPr lang="en-IL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194D7E9-E1DF-9917-4ED2-034AF146C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78" y="516143"/>
                  <a:ext cx="1912768" cy="2585323"/>
                </a:xfrm>
                <a:prstGeom prst="rect">
                  <a:avLst/>
                </a:prstGeom>
                <a:blipFill>
                  <a:blip r:embed="rId3"/>
                  <a:stretch>
                    <a:fillRect l="-2703" t="-1415" r="-4054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BB3B0C-EAB4-B1C7-3D50-A2425C839177}"/>
                </a:ext>
              </a:extLst>
            </p:cNvPr>
            <p:cNvSpPr/>
            <p:nvPr/>
          </p:nvSpPr>
          <p:spPr>
            <a:xfrm>
              <a:off x="4162539" y="633708"/>
              <a:ext cx="1332085" cy="10597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  <a:r>
                <a:rPr lang="en-IL" dirty="0"/>
                <a:t>iews generation using predicates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A588CB62-FBB6-920E-23F4-3EBD0138CB96}"/>
                </a:ext>
              </a:extLst>
            </p:cNvPr>
            <p:cNvSpPr/>
            <p:nvPr/>
          </p:nvSpPr>
          <p:spPr>
            <a:xfrm>
              <a:off x="3527141" y="1140177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3AD227-5167-18F3-9F87-6DD37A0F7B93}"/>
                </a:ext>
              </a:extLst>
            </p:cNvPr>
            <p:cNvSpPr txBox="1"/>
            <p:nvPr/>
          </p:nvSpPr>
          <p:spPr>
            <a:xfrm>
              <a:off x="3569233" y="77084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Q’</a:t>
              </a:r>
              <a:endParaRPr lang="en-IL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580DF0-7AC5-1406-2E4D-50606C9BE299}"/>
                </a:ext>
              </a:extLst>
            </p:cNvPr>
            <p:cNvSpPr/>
            <p:nvPr/>
          </p:nvSpPr>
          <p:spPr>
            <a:xfrm>
              <a:off x="11365497" y="129189"/>
              <a:ext cx="1111453" cy="20966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Find the top-K scored attributes and release noisy histograms </a:t>
              </a:r>
              <a:endParaRPr lang="en-IL" sz="140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67DF65-20D7-069C-A129-AD8FDE8AE54B}"/>
                </a:ext>
              </a:extLst>
            </p:cNvPr>
            <p:cNvGrpSpPr/>
            <p:nvPr/>
          </p:nvGrpSpPr>
          <p:grpSpPr>
            <a:xfrm>
              <a:off x="2577247" y="2476304"/>
              <a:ext cx="3471552" cy="719494"/>
              <a:chOff x="4992596" y="826148"/>
              <a:chExt cx="3471552" cy="719494"/>
            </a:xfrm>
          </p:grpSpPr>
          <p:sp>
            <p:nvSpPr>
              <p:cNvPr id="26" name="Right Arrow 25">
                <a:extLst>
                  <a:ext uri="{FF2B5EF4-FFF2-40B4-BE49-F238E27FC236}">
                    <a16:creationId xmlns:a16="http://schemas.microsoft.com/office/drawing/2014/main" id="{74CE95B1-0BA8-E65B-42FF-17150E23A77E}"/>
                  </a:ext>
                </a:extLst>
              </p:cNvPr>
              <p:cNvSpPr/>
              <p:nvPr/>
            </p:nvSpPr>
            <p:spPr>
              <a:xfrm>
                <a:off x="4992596" y="1140177"/>
                <a:ext cx="1599721" cy="223253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41BC5F-DB09-1D9B-DD88-83857F69CB40}"/>
                  </a:ext>
                </a:extLst>
              </p:cNvPr>
              <p:cNvSpPr/>
              <p:nvPr/>
            </p:nvSpPr>
            <p:spPr>
              <a:xfrm>
                <a:off x="6782181" y="891451"/>
                <a:ext cx="1681967" cy="65419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Generate noisy histogram</a:t>
                </a:r>
                <a:endParaRPr lang="en-IL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9D430C-BC8F-7D65-D0AC-E678028C4036}"/>
                  </a:ext>
                </a:extLst>
              </p:cNvPr>
              <p:cNvSpPr txBox="1"/>
              <p:nvPr/>
            </p:nvSpPr>
            <p:spPr>
              <a:xfrm>
                <a:off x="5060994" y="826148"/>
                <a:ext cx="1629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Constraint </a:t>
                </a:r>
                <a:r>
                  <a:rPr lang="en-US" dirty="0" err="1"/>
                  <a:t>attr</a:t>
                </a:r>
                <a:endParaRPr lang="en-IL" dirty="0"/>
              </a:p>
            </p:txBody>
          </p:sp>
        </p:grp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4B5CAA06-7297-8769-6890-79C0514D96A8}"/>
                </a:ext>
              </a:extLst>
            </p:cNvPr>
            <p:cNvSpPr/>
            <p:nvPr/>
          </p:nvSpPr>
          <p:spPr>
            <a:xfrm rot="5400000">
              <a:off x="2102253" y="2293704"/>
              <a:ext cx="971186" cy="11559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DE05082-0713-ED2E-E773-3D19B365A8BD}"/>
                    </a:ext>
                  </a:extLst>
                </p:cNvPr>
                <p:cNvSpPr/>
                <p:nvPr/>
              </p:nvSpPr>
              <p:spPr>
                <a:xfrm>
                  <a:off x="6422187" y="261085"/>
                  <a:ext cx="1452600" cy="230832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u="sng" dirty="0"/>
                    <a:t>Exponential Mechanism:</a:t>
                  </a:r>
                </a:p>
                <a:p>
                  <a:pPr algn="ctr"/>
                  <a:r>
                    <a:rPr lang="en-US" dirty="0"/>
                    <a:t>Choose the top-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v</a:t>
                  </a:r>
                  <a:r>
                    <a:rPr lang="en-US" dirty="0"/>
                    <a:t>iews using the </a:t>
                  </a:r>
                  <a:r>
                    <a:rPr lang="en-US" dirty="0">
                      <a:solidFill>
                        <a:srgbClr val="00B050"/>
                      </a:solidFill>
                    </a:rPr>
                    <a:t>usefulness</a:t>
                  </a:r>
                  <a:r>
                    <a:rPr lang="en-US" dirty="0"/>
                    <a:t> filter</a:t>
                  </a:r>
                  <a:endParaRPr lang="en-IL" dirty="0"/>
                </a:p>
              </p:txBody>
            </p:sp>
          </mc:Choice>
          <mc:Fallback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DE05082-0713-ED2E-E773-3D19B365A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2187" y="261085"/>
                  <a:ext cx="1452600" cy="2308324"/>
                </a:xfrm>
                <a:prstGeom prst="rect">
                  <a:avLst/>
                </a:prstGeom>
                <a:blipFill>
                  <a:blip r:embed="rId4"/>
                  <a:stretch>
                    <a:fillRect l="-2632" r="-263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3EBEAC8F-80AF-C8EA-AC34-2D4F131461AE}"/>
                </a:ext>
              </a:extLst>
            </p:cNvPr>
            <p:cNvSpPr/>
            <p:nvPr/>
          </p:nvSpPr>
          <p:spPr>
            <a:xfrm>
              <a:off x="8322553" y="497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B500B65-7ADD-125D-94D1-38B07E008D4E}"/>
                </a:ext>
              </a:extLst>
            </p:cNvPr>
            <p:cNvSpPr txBox="1"/>
            <p:nvPr/>
          </p:nvSpPr>
          <p:spPr>
            <a:xfrm>
              <a:off x="8348540" y="17101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effectLst/>
                  <a:latin typeface="Helvetica" pitchFamily="2" charset="0"/>
                </a:rPr>
                <a:t>…</a:t>
              </a:r>
              <a:endParaRPr lang="en-IL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93C84502-D712-E029-B900-BA13E9BCE986}"/>
                </a:ext>
              </a:extLst>
            </p:cNvPr>
            <p:cNvSpPr/>
            <p:nvPr/>
          </p:nvSpPr>
          <p:spPr>
            <a:xfrm>
              <a:off x="8322553" y="941752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7C85DA1B-25C1-2E87-4B0E-9878E9270F58}"/>
                </a:ext>
              </a:extLst>
            </p:cNvPr>
            <p:cNvSpPr/>
            <p:nvPr/>
          </p:nvSpPr>
          <p:spPr>
            <a:xfrm>
              <a:off x="8322553" y="1385733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4F62BE56-B5FE-A6B1-E36A-5C43AEDBFB18}"/>
                </a:ext>
              </a:extLst>
            </p:cNvPr>
            <p:cNvSpPr/>
            <p:nvPr/>
          </p:nvSpPr>
          <p:spPr>
            <a:xfrm>
              <a:off x="8322553" y="2126510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E735368-6188-437A-DC0C-50ED6E697A6F}"/>
                    </a:ext>
                  </a:extLst>
                </p:cNvPr>
                <p:cNvSpPr txBox="1"/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𝐴𝑡𝑡𝑟𝑠</m:t>
                        </m:r>
                      </m:oMath>
                    </m:oMathPara>
                  </a14:m>
                  <a:endParaRPr lang="en-IL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E735368-6188-437A-DC0C-50ED6E697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139" y="129189"/>
                  <a:ext cx="134581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61B73398-7A91-A586-896D-E7310BC9ADD6}"/>
                </a:ext>
              </a:extLst>
            </p:cNvPr>
            <p:cNvSpPr/>
            <p:nvPr/>
          </p:nvSpPr>
          <p:spPr>
            <a:xfrm>
              <a:off x="5724073" y="1139330"/>
              <a:ext cx="548291" cy="22325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IL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E5DEE3A-98D3-0083-6412-0BE63CB4113B}"/>
                </a:ext>
              </a:extLst>
            </p:cNvPr>
            <p:cNvSpPr/>
            <p:nvPr/>
          </p:nvSpPr>
          <p:spPr>
            <a:xfrm>
              <a:off x="9226486" y="251330"/>
              <a:ext cx="1249761" cy="1776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u="sng" dirty="0"/>
                <a:t>Exponential Mechanism:</a:t>
              </a:r>
            </a:p>
            <a:p>
              <a:pPr algn="ctr"/>
              <a:r>
                <a:rPr lang="en-US" sz="1400" dirty="0"/>
                <a:t>Choose the best view using </a:t>
              </a:r>
              <a:r>
                <a:rPr lang="en-US" sz="1400" dirty="0">
                  <a:solidFill>
                    <a:srgbClr val="00B050"/>
                  </a:solidFill>
                </a:rPr>
                <a:t>HD</a:t>
              </a:r>
              <a:endParaRPr lang="en-IL" sz="1400" dirty="0">
                <a:solidFill>
                  <a:srgbClr val="00B050"/>
                </a:solidFill>
              </a:endParaRP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62717DFD-3D2B-7688-572D-B8A4762344EF}"/>
                </a:ext>
              </a:extLst>
            </p:cNvPr>
            <p:cNvSpPr/>
            <p:nvPr/>
          </p:nvSpPr>
          <p:spPr>
            <a:xfrm>
              <a:off x="10624219" y="1060568"/>
              <a:ext cx="593306" cy="2376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DDF22A-0BEF-3743-94EC-C6D5D716B8FF}"/>
                  </a:ext>
                </a:extLst>
              </p:cNvPr>
              <p:cNvSpPr txBox="1"/>
              <p:nvPr/>
            </p:nvSpPr>
            <p:spPr>
              <a:xfrm>
                <a:off x="5109152" y="6210178"/>
                <a:ext cx="5509704" cy="56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𝑝𝑟𝑖𝑣𝑎𝑐𝑦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𝑏𝑢𝑑𝑔𝑒𝑡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DDF22A-0BEF-3743-94EC-C6D5D716B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152" y="6210178"/>
                <a:ext cx="5509704" cy="566758"/>
              </a:xfrm>
              <a:prstGeom prst="rect">
                <a:avLst/>
              </a:prstGeom>
              <a:blipFill>
                <a:blip r:embed="rId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e 34">
            <a:extLst>
              <a:ext uri="{FF2B5EF4-FFF2-40B4-BE49-F238E27FC236}">
                <a16:creationId xmlns:a16="http://schemas.microsoft.com/office/drawing/2014/main" id="{6A93E211-B7D3-7A69-8E55-56F4EB98CBF0}"/>
              </a:ext>
            </a:extLst>
          </p:cNvPr>
          <p:cNvSpPr/>
          <p:nvPr/>
        </p:nvSpPr>
        <p:spPr>
          <a:xfrm rot="16200000">
            <a:off x="7730663" y="4001564"/>
            <a:ext cx="266682" cy="40179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C9460D-5F65-C982-95B1-CAC7717847F2}"/>
                  </a:ext>
                </a:extLst>
              </p:cNvPr>
              <p:cNvSpPr txBox="1"/>
              <p:nvPr/>
            </p:nvSpPr>
            <p:spPr>
              <a:xfrm>
                <a:off x="7316979" y="1115332"/>
                <a:ext cx="371941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IL" dirty="0"/>
              </a:p>
              <a:p>
                <a:r>
                  <a:rPr lang="en-IL" dirty="0"/>
                  <a:t>   …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𝑏𝑒𝑠𝑡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h𝑖𝑠𝑡𝑜𝑔𝑟𝑎𝑚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𝑛𝑜𝑖𝑠𝑦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</m:d>
                    </m:oMath>
                  </m:oMathPara>
                </a14:m>
                <a:endParaRPr lang="en-IL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DC9460D-5F65-C982-95B1-CAC771784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979" y="1115332"/>
                <a:ext cx="3719416" cy="1200329"/>
              </a:xfrm>
              <a:prstGeom prst="rect">
                <a:avLst/>
              </a:prstGeom>
              <a:blipFill>
                <a:blip r:embed="rId7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6613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B642A-6631-D79C-529F-E0A49E86A6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94481"/>
                <a:ext cx="10515600" cy="548248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𝐴𝑙𝑔𝑜𝑟𝑖𝑡h𝑚</m:t>
                      </m:r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−1:</m:t>
                      </m:r>
                    </m:oMath>
                  </m:oMathPara>
                </a14:m>
                <a:endParaRPr lang="en-US" b="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𝑰𝒏𝒑𝒖𝒕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𝐶𝑎𝑛𝑑𝑖𝑑𝑎𝑡𝑒𝑠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𝐴𝑡𝑡𝑟𝑖𝑏𝑢𝑡𝑒𝑠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𝑄𝑂𝐻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𝐴𝑡𝑡𝑟𝑖𝑏𝑢𝑡𝑒𝑠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𝑁𝑈𝐿𝐿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𝑁𝑈𝐿𝐿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𝑒𝑎𝑐h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𝐴𝑡𝑡𝑟𝑖𝑏𝑢𝑡𝑒𝑠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𝐶𝑎𝑛𝑑𝑖𝑑𝑎𝑡𝑒𝑠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𝐻𝐷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𝑆𝑜𝑟𝑡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𝑘𝑒𝑦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𝐷𝐸𝑆𝐶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𝑅𝐸𝑇𝑈𝑅𝑁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[2]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B642A-6631-D79C-529F-E0A49E86A6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94481"/>
                <a:ext cx="10515600" cy="5482482"/>
              </a:xfrm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E1CE6E-D6D4-038B-A559-73A2885E0237}"/>
                  </a:ext>
                </a:extLst>
              </p14:cNvPr>
              <p14:cNvContentPartPr/>
              <p14:nvPr/>
            </p14:nvContentPartPr>
            <p14:xfrm>
              <a:off x="8299047" y="2767862"/>
              <a:ext cx="3468783" cy="4090137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E1CE6E-D6D4-038B-A559-73A2885E02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9687" y="2758502"/>
                <a:ext cx="3487142" cy="41084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7438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E475-FADC-6364-92D6-AD6D4CBD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8AD65-5366-5105-DCED-2D1AAF161F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75504"/>
                <a:ext cx="10515600" cy="54014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𝐴𝑙𝑔𝑜𝑟𝑖𝑡h𝑚</m:t>
                      </m:r>
                      <m:r>
                        <a:rPr lang="en-US" b="0" i="1" u="sng" smtClean="0">
                          <a:latin typeface="Cambria Math" panose="02040503050406030204" pitchFamily="18" charset="0"/>
                        </a:rPr>
                        <m:t>−2:</m:t>
                      </m:r>
                    </m:oMath>
                  </m:oMathPara>
                </a14:m>
                <a:endParaRPr lang="en-US" b="0" u="sn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𝑰𝒏𝒑𝒖𝒕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𝐶𝑎𝑛𝑑𝑖𝑑𝑎𝑡𝑒𝑠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𝐴𝑡𝑡𝑟𝑖𝑏𝑢𝑡𝑒𝑠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𝑄𝑂𝐻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𝑁𝑈𝐿𝐿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𝑁𝑈𝐿𝐿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𝐴𝑡𝑡𝑟𝑖𝑏𝑢𝑡𝑒𝑠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𝑒𝑎𝑐h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𝐶𝑎𝑛𝑑𝑖𝑑𝑎𝑡𝑒𝑠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𝐻𝐷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𝑅𝐸𝑇𝑈𝑅𝑁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8AD65-5366-5105-DCED-2D1AAF161F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75504"/>
                <a:ext cx="10515600" cy="5401459"/>
              </a:xfrm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5DC4C7-4348-6472-D515-E5A1E4327882}"/>
                  </a:ext>
                </a:extLst>
              </p14:cNvPr>
              <p14:cNvContentPartPr/>
              <p14:nvPr/>
            </p14:nvContentPartPr>
            <p14:xfrm>
              <a:off x="7465680" y="3029400"/>
              <a:ext cx="1964520" cy="229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5DC4C7-4348-6472-D515-E5A1E43278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6320" y="3020040"/>
                <a:ext cx="1983240" cy="231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0436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A5E4-DD9E-214B-DE69-78D96C6F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34" y="378618"/>
            <a:ext cx="10515600" cy="1325563"/>
          </a:xfrm>
        </p:spPr>
        <p:txBody>
          <a:bodyPr/>
          <a:lstStyle/>
          <a:p>
            <a:r>
              <a:rPr lang="en-IL" dirty="0"/>
              <a:t>Views Generation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BB8C2-123D-B567-7C8A-3DC5F28682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L" dirty="0"/>
                  <a:t>Alternative:</a:t>
                </a:r>
              </a:p>
              <a:p>
                <a:pPr lvl="1"/>
                <a:r>
                  <a:rPr lang="en-IL" dirty="0"/>
                  <a:t>Give each tuple log (|Attrs|) tokens</a:t>
                </a:r>
              </a:p>
              <a:p>
                <a:pPr lvl="1"/>
                <a:r>
                  <a:rPr lang="en-IL" dirty="0"/>
                  <a:t>Score each View by noisy Usefulness score</a:t>
                </a:r>
              </a:p>
              <a:p>
                <a:pPr lvl="1"/>
                <a:r>
                  <a:rPr lang="en-IL" dirty="0"/>
                  <a:t>Run greedy algorithm for choosing views(according to Usefulness Score) which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𝑉𝑖𝑒𝑤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𝑡𝑜𝑘𝑒𝑛𝑠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he-IL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he-IL" dirty="0"/>
                  <a:t> </a:t>
                </a:r>
                <a:r>
                  <a:rPr lang="en-IL" dirty="0"/>
                  <a:t>and reduc</a:t>
                </a:r>
                <a:r>
                  <a:rPr lang="en-US" dirty="0"/>
                  <a:t>e tokens properly.</a:t>
                </a:r>
                <a:endParaRPr lang="en-IL" dirty="0"/>
              </a:p>
              <a:p>
                <a:pPr lvl="1"/>
                <a:endParaRPr lang="en-IL" dirty="0"/>
              </a:p>
              <a:p>
                <a:pPr lvl="1"/>
                <a:endParaRPr lang="en-IL" dirty="0"/>
              </a:p>
              <a:p>
                <a:pPr lvl="1"/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BB8C2-123D-B567-7C8A-3DC5F2868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41D3E1F-33CA-3998-E061-53A15622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0"/>
            <a:ext cx="53975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92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13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195F-1589-3984-5681-6114A542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66" y="0"/>
            <a:ext cx="10515600" cy="1325563"/>
          </a:xfrm>
        </p:spPr>
        <p:txBody>
          <a:bodyPr/>
          <a:lstStyle/>
          <a:p>
            <a:r>
              <a:rPr lang="en-IL" dirty="0"/>
              <a:t>Experiments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BD1A65-6DA8-3A23-49FA-9EBCF050C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726769"/>
              </p:ext>
            </p:extLst>
          </p:nvPr>
        </p:nvGraphicFramePr>
        <p:xfrm>
          <a:off x="0" y="1465546"/>
          <a:ext cx="12083970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279">
                  <a:extLst>
                    <a:ext uri="{9D8B030D-6E8A-4147-A177-3AD203B41FA5}">
                      <a16:colId xmlns:a16="http://schemas.microsoft.com/office/drawing/2014/main" val="2894695218"/>
                    </a:ext>
                  </a:extLst>
                </a:gridCol>
                <a:gridCol w="5676336">
                  <a:extLst>
                    <a:ext uri="{9D8B030D-6E8A-4147-A177-3AD203B41FA5}">
                      <a16:colId xmlns:a16="http://schemas.microsoft.com/office/drawing/2014/main" val="620317523"/>
                    </a:ext>
                  </a:extLst>
                </a:gridCol>
                <a:gridCol w="2754775">
                  <a:extLst>
                    <a:ext uri="{9D8B030D-6E8A-4147-A177-3AD203B41FA5}">
                      <a16:colId xmlns:a16="http://schemas.microsoft.com/office/drawing/2014/main" val="2219642191"/>
                    </a:ext>
                  </a:extLst>
                </a:gridCol>
                <a:gridCol w="2569580">
                  <a:extLst>
                    <a:ext uri="{9D8B030D-6E8A-4147-A177-3AD203B41FA5}">
                      <a16:colId xmlns:a16="http://schemas.microsoft.com/office/drawing/2014/main" val="3374442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Semantic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explanations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28966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IL" dirty="0"/>
                        <a:t>IPUMS-CPS</a:t>
                      </a:r>
                    </a:p>
                    <a:p>
                      <a:r>
                        <a:rPr lang="en-IL" dirty="0"/>
                        <a:t>(D</a:t>
                      </a:r>
                      <a:r>
                        <a:rPr lang="en-US" dirty="0"/>
                        <a:t>o</a:t>
                      </a:r>
                      <a:r>
                        <a:rPr lang="en-IL" dirty="0"/>
                        <a:t>wn sampled to 100,000 tuples)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  <a:r>
                        <a:rPr lang="en-IL" dirty="0"/>
                        <a:t>1,1:   </a:t>
                      </a:r>
                      <a:r>
                        <a:rPr lang="en-US" dirty="0"/>
                        <a:t>EMPSTAT = 'Employed’ AND UHRSWORK &gt;= 35</a:t>
                      </a:r>
                      <a:endParaRPr lang="en-IL" dirty="0"/>
                    </a:p>
                    <a:p>
                      <a:r>
                        <a:rPr lang="en-US" dirty="0"/>
                        <a:t>Q</a:t>
                      </a:r>
                      <a:r>
                        <a:rPr lang="en-IL" dirty="0"/>
                        <a:t>1,2:   </a:t>
                      </a:r>
                      <a:r>
                        <a:rPr lang="en-US" dirty="0"/>
                        <a:t>EMPSTAT = 'Employed’ AND UHRSWORK &lt; 35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Full time job VS part time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UHRSWORK, </a:t>
                      </a:r>
                      <a:r>
                        <a:rPr lang="en-IL" dirty="0"/>
                        <a:t>SEX, AGE, EDUC, INCTOT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243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  <a:r>
                        <a:rPr lang="en-IL" dirty="0"/>
                        <a:t>2,1:   </a:t>
                      </a:r>
                      <a:r>
                        <a:rPr lang="en-US" dirty="0"/>
                        <a:t>EMPSTAT = 'Employed’ AND EDUC &gt;= '</a:t>
                      </a:r>
                      <a:r>
                        <a:rPr lang="en-US" dirty="0" err="1"/>
                        <a:t>Bachelor''s</a:t>
                      </a:r>
                      <a:r>
                        <a:rPr lang="en-US" dirty="0"/>
                        <a:t> degree'</a:t>
                      </a:r>
                      <a:endParaRPr lang="en-IL" dirty="0"/>
                    </a:p>
                    <a:p>
                      <a:r>
                        <a:rPr lang="en-US" dirty="0"/>
                        <a:t>Q</a:t>
                      </a:r>
                      <a:r>
                        <a:rPr lang="en-IL" dirty="0"/>
                        <a:t>2,2:   </a:t>
                      </a:r>
                      <a:r>
                        <a:rPr lang="en-US" dirty="0"/>
                        <a:t>EMPSTAT = 'Employed’ AND EDUC &lt; '</a:t>
                      </a:r>
                      <a:r>
                        <a:rPr lang="en-US" dirty="0" err="1"/>
                        <a:t>Bachelor''s</a:t>
                      </a:r>
                      <a:r>
                        <a:rPr lang="en-US" dirty="0"/>
                        <a:t> degree'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Employed people W</a:t>
                      </a:r>
                      <a:r>
                        <a:rPr lang="en-IL" dirty="0"/>
                        <a:t>ith or without higher eductation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SEX, AGE, EDUC, INCTOT, RACE</a:t>
                      </a:r>
                    </a:p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7891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Q3,1:   EMPSTAT = 'Employed’ AND INCTOT &gt;= 60000</a:t>
                      </a:r>
                    </a:p>
                    <a:p>
                      <a:r>
                        <a:rPr lang="en-US" dirty="0"/>
                        <a:t>Q</a:t>
                      </a:r>
                      <a:r>
                        <a:rPr lang="en-IL" dirty="0"/>
                        <a:t>3,2:   </a:t>
                      </a:r>
                      <a:r>
                        <a:rPr lang="en-US" dirty="0"/>
                        <a:t>EMPSTAT = 'Employed’ AND INCTOT &lt; 30000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People with high income VS low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SEX, AGE, EDUC, INCTOT, RACE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47648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IL" dirty="0"/>
                        <a:t>Stack-Overflow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Q4,1:   </a:t>
                      </a:r>
                      <a:r>
                        <a:rPr lang="en-US" dirty="0" err="1"/>
                        <a:t>YearsCodePro</a:t>
                      </a:r>
                      <a:r>
                        <a:rPr lang="en-US" dirty="0"/>
                        <a:t> &gt;= 10</a:t>
                      </a:r>
                      <a:endParaRPr lang="en-IL" dirty="0"/>
                    </a:p>
                    <a:p>
                      <a:r>
                        <a:rPr lang="en-IL" dirty="0"/>
                        <a:t>Q4,2:   </a:t>
                      </a:r>
                      <a:r>
                        <a:rPr lang="en-US" dirty="0" err="1"/>
                        <a:t>YearsCodePro</a:t>
                      </a:r>
                      <a:r>
                        <a:rPr lang="en-US" dirty="0"/>
                        <a:t> &lt; 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Professional VS non-professional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DevType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CodeLanguage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4946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Q5,1:   </a:t>
                      </a:r>
                      <a:r>
                        <a:rPr lang="en-US" dirty="0" err="1"/>
                        <a:t>WorkRemote</a:t>
                      </a:r>
                      <a:r>
                        <a:rPr lang="en-US" dirty="0"/>
                        <a:t> = "Fully remote"</a:t>
                      </a:r>
                      <a:endParaRPr lang="en-IL" dirty="0"/>
                    </a:p>
                    <a:p>
                      <a:r>
                        <a:rPr lang="en-IL" dirty="0"/>
                        <a:t>Q5,2:   </a:t>
                      </a:r>
                      <a:r>
                        <a:rPr lang="en-US" dirty="0" err="1"/>
                        <a:t>WorkRemote</a:t>
                      </a:r>
                      <a:r>
                        <a:rPr lang="en-US" dirty="0"/>
                        <a:t> = ”On-Site"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Remote Workers vs On-site Workers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DevType</a:t>
                      </a:r>
                      <a:r>
                        <a:rPr lang="en-US" dirty="0"/>
                        <a:t>, Country, </a:t>
                      </a:r>
                      <a:r>
                        <a:rPr lang="en-US" dirty="0" err="1"/>
                        <a:t>YearsCodePro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CompanySize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5642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Q6,1:  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Satisfaction &gt; 5 And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UsingAI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“yes”</a:t>
                      </a:r>
                      <a:endParaRPr lang="en-IL" dirty="0"/>
                    </a:p>
                    <a:p>
                      <a:r>
                        <a:rPr lang="en-IL" dirty="0"/>
                        <a:t>Q6,2:  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Satisfaction &gt; 5 And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UsingAI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“no”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IL" dirty="0"/>
                        <a:t>he impact of using AI tools on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DevType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CodeLanguage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YearsCodePro</a:t>
                      </a:r>
                      <a:r>
                        <a:rPr lang="en-US" dirty="0"/>
                        <a:t>, Country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515076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6C2176-D8C6-FE57-CF6C-1E7C6B56B6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9825914"/>
              </p:ext>
            </p:extLst>
          </p:nvPr>
        </p:nvGraphicFramePr>
        <p:xfrm>
          <a:off x="3685572" y="176513"/>
          <a:ext cx="842154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221">
                  <a:extLst>
                    <a:ext uri="{9D8B030D-6E8A-4147-A177-3AD203B41FA5}">
                      <a16:colId xmlns:a16="http://schemas.microsoft.com/office/drawing/2014/main" val="2894695218"/>
                    </a:ext>
                  </a:extLst>
                </a:gridCol>
                <a:gridCol w="886369">
                  <a:extLst>
                    <a:ext uri="{9D8B030D-6E8A-4147-A177-3AD203B41FA5}">
                      <a16:colId xmlns:a16="http://schemas.microsoft.com/office/drawing/2014/main" val="620317523"/>
                    </a:ext>
                  </a:extLst>
                </a:gridCol>
                <a:gridCol w="1040202">
                  <a:extLst>
                    <a:ext uri="{9D8B030D-6E8A-4147-A177-3AD203B41FA5}">
                      <a16:colId xmlns:a16="http://schemas.microsoft.com/office/drawing/2014/main" val="2057439925"/>
                    </a:ext>
                  </a:extLst>
                </a:gridCol>
                <a:gridCol w="4100069">
                  <a:extLst>
                    <a:ext uri="{9D8B030D-6E8A-4147-A177-3AD203B41FA5}">
                      <a16:colId xmlns:a16="http://schemas.microsoft.com/office/drawing/2014/main" val="4266976959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2505137492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IL" dirty="0"/>
                        <a:t>Default Setting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265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epsilon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Predicates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# of trials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28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All combinations of  A1=v1 and A2=v2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24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675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90B27-9211-AB95-E87C-C59A2771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FB875-69FD-4BBE-BA70-3B3152537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Scalability</a:t>
            </a:r>
          </a:p>
          <a:p>
            <a:pPr lvl="1"/>
            <a:r>
              <a:rPr lang="en-IL" dirty="0"/>
              <a:t>Runtime = f(#tupels)</a:t>
            </a:r>
          </a:p>
          <a:p>
            <a:pPr lvl="2"/>
            <a:r>
              <a:rPr lang="en-US" dirty="0"/>
              <a:t>B</a:t>
            </a:r>
            <a:r>
              <a:rPr lang="en-IL" dirty="0"/>
              <a:t>y down sampling</a:t>
            </a:r>
          </a:p>
          <a:p>
            <a:pPr lvl="1"/>
            <a:r>
              <a:rPr lang="en-IL" dirty="0"/>
              <a:t>Runtime = f(Algorithm)</a:t>
            </a:r>
          </a:p>
          <a:p>
            <a:pPr lvl="2"/>
            <a:r>
              <a:rPr lang="en-IL" dirty="0"/>
              <a:t>Algorithm = Private-Explanations / Brute-Force / Brute-Force with non-proxy utilities</a:t>
            </a:r>
          </a:p>
          <a:p>
            <a:pPr lvl="1"/>
            <a:r>
              <a:rPr lang="en-IL" dirty="0"/>
              <a:t>Runtime = f(k)</a:t>
            </a:r>
          </a:p>
          <a:p>
            <a:pPr lvl="1"/>
            <a:r>
              <a:rPr lang="en-IL" dirty="0"/>
              <a:t>Runtime = f(#Predicates)</a:t>
            </a:r>
          </a:p>
          <a:p>
            <a:pPr lvl="1"/>
            <a:r>
              <a:rPr lang="en-IL" dirty="0"/>
              <a:t>Runtime = f(epsilon)</a:t>
            </a:r>
          </a:p>
          <a:p>
            <a:pPr lvl="1"/>
            <a:r>
              <a:rPr lang="en-IL" dirty="0"/>
              <a:t>Runtime = f(tau)</a:t>
            </a:r>
          </a:p>
          <a:p>
            <a:pPr lvl="1"/>
            <a:endParaRPr lang="en-IL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34707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425E-DFA8-5613-40E1-03B5E162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F5D45-5642-E612-3978-1466F396C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Quality measures</a:t>
            </a:r>
          </a:p>
          <a:p>
            <a:pPr lvl="1"/>
            <a:r>
              <a:rPr lang="en-IL" dirty="0"/>
              <a:t>For each dataset, generate an hitmap of the output histograms by:</a:t>
            </a:r>
          </a:p>
          <a:p>
            <a:pPr lvl="2"/>
            <a:r>
              <a:rPr lang="en-IL" dirty="0"/>
              <a:t>Set of initial predicates</a:t>
            </a:r>
          </a:p>
          <a:p>
            <a:pPr lvl="2"/>
            <a:r>
              <a:rPr lang="en-US" dirty="0"/>
              <a:t>T</a:t>
            </a:r>
            <a:r>
              <a:rPr lang="en-IL" dirty="0"/>
              <a:t>au</a:t>
            </a:r>
          </a:p>
          <a:p>
            <a:pPr lvl="2"/>
            <a:r>
              <a:rPr lang="en-IL" dirty="0"/>
              <a:t>Algorithm (Privacy impact)</a:t>
            </a:r>
          </a:p>
          <a:p>
            <a:pPr lvl="3"/>
            <a:r>
              <a:rPr lang="en-IL" dirty="0"/>
              <a:t>Algorithm = Private-Explanations / Brute-Force / Brute-Force with non-proxy utilities</a:t>
            </a:r>
          </a:p>
          <a:p>
            <a:pPr lvl="2"/>
            <a:r>
              <a:rPr lang="en-US" dirty="0"/>
              <a:t>E</a:t>
            </a:r>
            <a:r>
              <a:rPr lang="en-IL" dirty="0"/>
              <a:t>psilon (Privacy impact)</a:t>
            </a:r>
          </a:p>
          <a:p>
            <a:pPr lvl="2"/>
            <a:endParaRPr lang="en-IL" dirty="0"/>
          </a:p>
          <a:p>
            <a:pPr lvl="2"/>
            <a:endParaRPr lang="en-IL" dirty="0"/>
          </a:p>
          <a:p>
            <a:pPr lvl="2"/>
            <a:endParaRPr lang="en-IL" dirty="0"/>
          </a:p>
          <a:p>
            <a:pPr lvl="2"/>
            <a:endParaRPr lang="en-IL" dirty="0"/>
          </a:p>
          <a:p>
            <a:pPr lvl="1"/>
            <a:endParaRPr lang="en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412C01-3B56-EE36-76AC-A4113AF19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882714"/>
              </p:ext>
            </p:extLst>
          </p:nvPr>
        </p:nvGraphicFramePr>
        <p:xfrm>
          <a:off x="3583008" y="482854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958288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185538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1208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346673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13775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EDUC=1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EDUC=2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EDUC=12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058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93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39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1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80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394120</TotalTime>
  <Words>2652</Words>
  <Application>Microsoft Macintosh PowerPoint</Application>
  <PresentationFormat>Widescreen</PresentationFormat>
  <Paragraphs>654</Paragraphs>
  <Slides>43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Open Issues</vt:lpstr>
      <vt:lpstr>PowerPoint Presentation</vt:lpstr>
      <vt:lpstr>Utility Function</vt:lpstr>
      <vt:lpstr>Sensitivity</vt:lpstr>
      <vt:lpstr>PowerPoint Presentation</vt:lpstr>
      <vt:lpstr>PowerPoint Presentation</vt:lpstr>
      <vt:lpstr>PowerPoint Presentation</vt:lpstr>
      <vt:lpstr>Range</vt:lpstr>
      <vt:lpstr>Utility Function – 2nd try</vt:lpstr>
      <vt:lpstr>Sensitivity – over D’ </vt:lpstr>
      <vt:lpstr>PowerPoint Presentation</vt:lpstr>
      <vt:lpstr>PowerPoint Presentation</vt:lpstr>
      <vt:lpstr>Range – Assume no joins</vt:lpstr>
      <vt:lpstr>PowerPoint Presentation</vt:lpstr>
      <vt:lpstr>Range – Assume no joins</vt:lpstr>
      <vt:lpstr>PowerPoint Presentation</vt:lpstr>
      <vt:lpstr>10.05 - Utility Function – 4th try</vt:lpstr>
      <vt:lpstr>Sensitivity – over D’ </vt:lpstr>
      <vt:lpstr>PowerPoint Presentation</vt:lpstr>
      <vt:lpstr>PowerPoint Presentation</vt:lpstr>
      <vt:lpstr>Range – Assume no joins</vt:lpstr>
      <vt:lpstr>20.05 - Utility Function – 5th try</vt:lpstr>
      <vt:lpstr>PowerPoint Presentation</vt:lpstr>
      <vt:lpstr>PowerPoint Presentation</vt:lpstr>
      <vt:lpstr>Range – Assume no joins</vt:lpstr>
      <vt:lpstr>PowerPoint Presentation</vt:lpstr>
      <vt:lpstr>Experiments Design</vt:lpstr>
      <vt:lpstr>Experiments Design</vt:lpstr>
      <vt:lpstr>PowerPoint Presentation</vt:lpstr>
      <vt:lpstr>Privacy Analayzing using Composition Rules </vt:lpstr>
      <vt:lpstr>Privacy Analayzing using Composition Rules </vt:lpstr>
      <vt:lpstr>Privacy Analayzing using Composition Rules </vt:lpstr>
      <vt:lpstr>PowerPoint Presentation</vt:lpstr>
      <vt:lpstr>PowerPoint Presentation</vt:lpstr>
      <vt:lpstr>Views Generation Strategy</vt:lpstr>
      <vt:lpstr>PowerPoint Presentation</vt:lpstr>
      <vt:lpstr>Experiments</vt:lpstr>
      <vt:lpstr>Experiments</vt:lpstr>
      <vt:lpstr>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Silberstein</dc:creator>
  <cp:lastModifiedBy>Alon Silberstein</cp:lastModifiedBy>
  <cp:revision>71</cp:revision>
  <dcterms:created xsi:type="dcterms:W3CDTF">2025-03-23T06:04:31Z</dcterms:created>
  <dcterms:modified xsi:type="dcterms:W3CDTF">2026-01-03T21:45:40Z</dcterms:modified>
</cp:coreProperties>
</file>